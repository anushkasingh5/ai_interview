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Montserrat Bold" panose="020B0604020202020204" charset="0"/>
      <p:regular r:id="rId20"/>
    </p:embeddedFont>
    <p:embeddedFont>
      <p:font typeface="Open Sans" panose="020F0502020204030204" pitchFamily="34" charset="0"/>
      <p:regular r:id="rId21"/>
    </p:embeddedFont>
    <p:embeddedFont>
      <p:font typeface="Open Sans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52F">
                <a:alpha val="41961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76300" y="1009650"/>
            <a:ext cx="72390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32">
                <a:solidFill>
                  <a:srgbClr val="22D3E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B.TECH CSE • FINAL YEAR PROJECT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76300" y="2018586"/>
            <a:ext cx="8572500" cy="1083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68"/>
              </a:lnSpc>
            </a:pPr>
            <a:r>
              <a:rPr lang="en-US" sz="78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InterviewAce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76300" y="3329940"/>
            <a:ext cx="2857500" cy="1557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12"/>
              </a:lnSpc>
            </a:pPr>
            <a:r>
              <a:rPr lang="en-US" sz="11250" b="1">
                <a:solidFill>
                  <a:srgbClr val="22D3E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76300" y="4915853"/>
            <a:ext cx="7620000" cy="45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AI Mock Interview Platform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76300" y="5620703"/>
            <a:ext cx="857250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 spc="179">
                <a:solidFill>
                  <a:srgbClr val="22D3E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Practice. Analyze. Improve.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6300" y="6249353"/>
            <a:ext cx="5998127" cy="3027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Team Members:</a:t>
            </a:r>
          </a:p>
          <a:p>
            <a:pPr algn="just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Ashirwad Srivastava(230029013055)</a:t>
            </a:r>
          </a:p>
          <a:p>
            <a:pPr algn="just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Anushka Singh(2300290100071)</a:t>
            </a:r>
          </a:p>
          <a:p>
            <a:pPr algn="just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Anuj Kumar Singh(2300290100067)</a:t>
            </a:r>
          </a:p>
          <a:p>
            <a:pPr algn="just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Abhijeet Vinay Jha(2300290100007)</a:t>
            </a:r>
          </a:p>
          <a:p>
            <a:pPr algn="just">
              <a:lnSpc>
                <a:spcPts val="2659"/>
              </a:lnSpc>
            </a:pPr>
            <a:endParaRPr lang="en-US" sz="18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2799"/>
              </a:lnSpc>
            </a:pPr>
            <a:r>
              <a:rPr lang="en-US" sz="19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Project Guide:</a:t>
            </a:r>
          </a:p>
          <a:p>
            <a:pPr algn="just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Ms. Neeti Pahuja (Assistant Professor, CSE)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  <a:endParaRPr lang="en-US" sz="18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495300"/>
            <a:ext cx="219075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146C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 / CONTEXT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6300" y="895350"/>
            <a:ext cx="14287500" cy="557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1">
                <a:solidFill>
                  <a:srgbClr val="1020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One continuous preparation loop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6300" y="1457325"/>
            <a:ext cx="14763750" cy="28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InterviewAce AI unifies preparation, realistic practice, evidence-based feedback and personal improvement.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18288000" cy="95250"/>
            <a:chOff x="0" y="0"/>
            <a:chExt cx="24384000" cy="127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27000"/>
            </a:xfrm>
            <a:custGeom>
              <a:avLst/>
              <a:gdLst/>
              <a:ahLst/>
              <a:cxnLst/>
              <a:rect l="l" t="t" r="r" b="b"/>
              <a:pathLst>
                <a:path w="24384000" h="127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146CFF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04875" y="2762250"/>
            <a:ext cx="2381250" cy="1047750"/>
            <a:chOff x="0" y="0"/>
            <a:chExt cx="3175000" cy="1397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175000" cy="1397000"/>
            </a:xfrm>
            <a:custGeom>
              <a:avLst/>
              <a:gdLst/>
              <a:ahLst/>
              <a:cxnLst/>
              <a:rect l="l" t="t" r="r" b="b"/>
              <a:pathLst>
                <a:path w="3175000" h="1397000">
                  <a:moveTo>
                    <a:pt x="71120" y="0"/>
                  </a:moveTo>
                  <a:lnTo>
                    <a:pt x="3103880" y="0"/>
                  </a:lnTo>
                  <a:cubicBezTo>
                    <a:pt x="3143159" y="0"/>
                    <a:pt x="3175000" y="31842"/>
                    <a:pt x="3175000" y="71120"/>
                  </a:cubicBezTo>
                  <a:lnTo>
                    <a:pt x="3175000" y="1325880"/>
                  </a:lnTo>
                  <a:cubicBezTo>
                    <a:pt x="3175000" y="1365159"/>
                    <a:pt x="3143159" y="1397000"/>
                    <a:pt x="3103880" y="1397000"/>
                  </a:cubicBezTo>
                  <a:lnTo>
                    <a:pt x="71120" y="1397000"/>
                  </a:lnTo>
                  <a:cubicBezTo>
                    <a:pt x="31842" y="1397000"/>
                    <a:pt x="0" y="1365159"/>
                    <a:pt x="0" y="1325880"/>
                  </a:cubicBezTo>
                  <a:lnTo>
                    <a:pt x="0" y="71120"/>
                  </a:lnTo>
                  <a:cubicBezTo>
                    <a:pt x="0" y="31842"/>
                    <a:pt x="31842" y="0"/>
                    <a:pt x="7112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3175000" cy="1425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CANDIDATE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3286125" y="3286125"/>
            <a:ext cx="428625" cy="0"/>
          </a:xfrm>
          <a:prstGeom prst="line">
            <a:avLst/>
          </a:prstGeom>
          <a:ln w="38100" cap="rnd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3762375" y="2762250"/>
            <a:ext cx="2381250" cy="1047750"/>
            <a:chOff x="0" y="0"/>
            <a:chExt cx="3175000" cy="1397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175000" cy="1397000"/>
            </a:xfrm>
            <a:custGeom>
              <a:avLst/>
              <a:gdLst/>
              <a:ahLst/>
              <a:cxnLst/>
              <a:rect l="l" t="t" r="r" b="b"/>
              <a:pathLst>
                <a:path w="3175000" h="1397000">
                  <a:moveTo>
                    <a:pt x="71120" y="0"/>
                  </a:moveTo>
                  <a:lnTo>
                    <a:pt x="3103880" y="0"/>
                  </a:lnTo>
                  <a:cubicBezTo>
                    <a:pt x="3143159" y="0"/>
                    <a:pt x="3175000" y="31842"/>
                    <a:pt x="3175000" y="71120"/>
                  </a:cubicBezTo>
                  <a:lnTo>
                    <a:pt x="3175000" y="1325880"/>
                  </a:lnTo>
                  <a:cubicBezTo>
                    <a:pt x="3175000" y="1365159"/>
                    <a:pt x="3143159" y="1397000"/>
                    <a:pt x="3103880" y="1397000"/>
                  </a:cubicBezTo>
                  <a:lnTo>
                    <a:pt x="71120" y="1397000"/>
                  </a:lnTo>
                  <a:cubicBezTo>
                    <a:pt x="31842" y="1397000"/>
                    <a:pt x="0" y="1365159"/>
                    <a:pt x="0" y="1325880"/>
                  </a:cubicBezTo>
                  <a:lnTo>
                    <a:pt x="0" y="71120"/>
                  </a:lnTo>
                  <a:cubicBezTo>
                    <a:pt x="0" y="31842"/>
                    <a:pt x="31842" y="0"/>
                    <a:pt x="7112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3175000" cy="1425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PREPARE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6143625" y="3286125"/>
            <a:ext cx="428625" cy="0"/>
          </a:xfrm>
          <a:prstGeom prst="line">
            <a:avLst/>
          </a:prstGeom>
          <a:ln w="38100" cap="rnd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6" name="Group 16"/>
          <p:cNvGrpSpPr/>
          <p:nvPr/>
        </p:nvGrpSpPr>
        <p:grpSpPr>
          <a:xfrm>
            <a:off x="6619875" y="2762250"/>
            <a:ext cx="2381250" cy="1047750"/>
            <a:chOff x="0" y="0"/>
            <a:chExt cx="3175000" cy="1397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175000" cy="1397000"/>
            </a:xfrm>
            <a:custGeom>
              <a:avLst/>
              <a:gdLst/>
              <a:ahLst/>
              <a:cxnLst/>
              <a:rect l="l" t="t" r="r" b="b"/>
              <a:pathLst>
                <a:path w="3175000" h="1397000">
                  <a:moveTo>
                    <a:pt x="71120" y="0"/>
                  </a:moveTo>
                  <a:lnTo>
                    <a:pt x="3103880" y="0"/>
                  </a:lnTo>
                  <a:cubicBezTo>
                    <a:pt x="3143159" y="0"/>
                    <a:pt x="3175000" y="31842"/>
                    <a:pt x="3175000" y="71120"/>
                  </a:cubicBezTo>
                  <a:lnTo>
                    <a:pt x="3175000" y="1325880"/>
                  </a:lnTo>
                  <a:cubicBezTo>
                    <a:pt x="3175000" y="1365159"/>
                    <a:pt x="3143159" y="1397000"/>
                    <a:pt x="3103880" y="1397000"/>
                  </a:cubicBezTo>
                  <a:lnTo>
                    <a:pt x="71120" y="1397000"/>
                  </a:lnTo>
                  <a:cubicBezTo>
                    <a:pt x="31842" y="1397000"/>
                    <a:pt x="0" y="1365159"/>
                    <a:pt x="0" y="1325880"/>
                  </a:cubicBezTo>
                  <a:lnTo>
                    <a:pt x="0" y="71120"/>
                  </a:lnTo>
                  <a:cubicBezTo>
                    <a:pt x="0" y="31842"/>
                    <a:pt x="31842" y="0"/>
                    <a:pt x="7112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3175000" cy="1425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PRACTICE</a:t>
              </a:r>
            </a:p>
          </p:txBody>
        </p:sp>
      </p:grpSp>
      <p:sp>
        <p:nvSpPr>
          <p:cNvPr id="19" name="AutoShape 19"/>
          <p:cNvSpPr/>
          <p:nvPr/>
        </p:nvSpPr>
        <p:spPr>
          <a:xfrm>
            <a:off x="9001125" y="3286125"/>
            <a:ext cx="428625" cy="0"/>
          </a:xfrm>
          <a:prstGeom prst="line">
            <a:avLst/>
          </a:prstGeom>
          <a:ln w="38100" cap="rnd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0" name="Group 20"/>
          <p:cNvGrpSpPr/>
          <p:nvPr/>
        </p:nvGrpSpPr>
        <p:grpSpPr>
          <a:xfrm>
            <a:off x="9477375" y="2762250"/>
            <a:ext cx="2381250" cy="1047750"/>
            <a:chOff x="0" y="0"/>
            <a:chExt cx="3175000" cy="1397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175000" cy="1397000"/>
            </a:xfrm>
            <a:custGeom>
              <a:avLst/>
              <a:gdLst/>
              <a:ahLst/>
              <a:cxnLst/>
              <a:rect l="l" t="t" r="r" b="b"/>
              <a:pathLst>
                <a:path w="3175000" h="1397000">
                  <a:moveTo>
                    <a:pt x="71120" y="0"/>
                  </a:moveTo>
                  <a:lnTo>
                    <a:pt x="3103880" y="0"/>
                  </a:lnTo>
                  <a:cubicBezTo>
                    <a:pt x="3143159" y="0"/>
                    <a:pt x="3175000" y="31842"/>
                    <a:pt x="3175000" y="71120"/>
                  </a:cubicBezTo>
                  <a:lnTo>
                    <a:pt x="3175000" y="1325880"/>
                  </a:lnTo>
                  <a:cubicBezTo>
                    <a:pt x="3175000" y="1365159"/>
                    <a:pt x="3143159" y="1397000"/>
                    <a:pt x="3103880" y="1397000"/>
                  </a:cubicBezTo>
                  <a:lnTo>
                    <a:pt x="71120" y="1397000"/>
                  </a:lnTo>
                  <a:cubicBezTo>
                    <a:pt x="31842" y="1397000"/>
                    <a:pt x="0" y="1365159"/>
                    <a:pt x="0" y="1325880"/>
                  </a:cubicBezTo>
                  <a:lnTo>
                    <a:pt x="0" y="71120"/>
                  </a:lnTo>
                  <a:cubicBezTo>
                    <a:pt x="0" y="31842"/>
                    <a:pt x="31842" y="0"/>
                    <a:pt x="71120" y="0"/>
                  </a:cubicBezTo>
                  <a:close/>
                </a:path>
              </a:pathLst>
            </a:custGeom>
            <a:solidFill>
              <a:srgbClr val="146CFF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3175000" cy="1425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AI ANALYSIS</a:t>
              </a:r>
            </a:p>
          </p:txBody>
        </p:sp>
      </p:grpSp>
      <p:sp>
        <p:nvSpPr>
          <p:cNvPr id="23" name="AutoShape 23"/>
          <p:cNvSpPr/>
          <p:nvPr/>
        </p:nvSpPr>
        <p:spPr>
          <a:xfrm>
            <a:off x="11858625" y="3286125"/>
            <a:ext cx="428625" cy="0"/>
          </a:xfrm>
          <a:prstGeom prst="line">
            <a:avLst/>
          </a:prstGeom>
          <a:ln w="38100" cap="rnd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4" name="Group 24"/>
          <p:cNvGrpSpPr/>
          <p:nvPr/>
        </p:nvGrpSpPr>
        <p:grpSpPr>
          <a:xfrm>
            <a:off x="12334875" y="2762250"/>
            <a:ext cx="2381250" cy="1047750"/>
            <a:chOff x="0" y="0"/>
            <a:chExt cx="3175000" cy="1397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175000" cy="1397000"/>
            </a:xfrm>
            <a:custGeom>
              <a:avLst/>
              <a:gdLst/>
              <a:ahLst/>
              <a:cxnLst/>
              <a:rect l="l" t="t" r="r" b="b"/>
              <a:pathLst>
                <a:path w="3175000" h="1397000">
                  <a:moveTo>
                    <a:pt x="71120" y="0"/>
                  </a:moveTo>
                  <a:lnTo>
                    <a:pt x="3103880" y="0"/>
                  </a:lnTo>
                  <a:cubicBezTo>
                    <a:pt x="3143159" y="0"/>
                    <a:pt x="3175000" y="31842"/>
                    <a:pt x="3175000" y="71120"/>
                  </a:cubicBezTo>
                  <a:lnTo>
                    <a:pt x="3175000" y="1325880"/>
                  </a:lnTo>
                  <a:cubicBezTo>
                    <a:pt x="3175000" y="1365159"/>
                    <a:pt x="3143159" y="1397000"/>
                    <a:pt x="3103880" y="1397000"/>
                  </a:cubicBezTo>
                  <a:lnTo>
                    <a:pt x="71120" y="1397000"/>
                  </a:lnTo>
                  <a:cubicBezTo>
                    <a:pt x="31842" y="1397000"/>
                    <a:pt x="0" y="1365159"/>
                    <a:pt x="0" y="1325880"/>
                  </a:cubicBezTo>
                  <a:lnTo>
                    <a:pt x="0" y="71120"/>
                  </a:lnTo>
                  <a:cubicBezTo>
                    <a:pt x="0" y="31842"/>
                    <a:pt x="31842" y="0"/>
                    <a:pt x="7112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28575"/>
              <a:ext cx="3175000" cy="1425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FEEDBACK</a:t>
              </a:r>
            </a:p>
          </p:txBody>
        </p:sp>
      </p:grpSp>
      <p:sp>
        <p:nvSpPr>
          <p:cNvPr id="27" name="AutoShape 27"/>
          <p:cNvSpPr/>
          <p:nvPr/>
        </p:nvSpPr>
        <p:spPr>
          <a:xfrm>
            <a:off x="14716125" y="3286125"/>
            <a:ext cx="428625" cy="0"/>
          </a:xfrm>
          <a:prstGeom prst="line">
            <a:avLst/>
          </a:prstGeom>
          <a:ln w="38100" cap="rnd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8" name="Group 28"/>
          <p:cNvGrpSpPr/>
          <p:nvPr/>
        </p:nvGrpSpPr>
        <p:grpSpPr>
          <a:xfrm>
            <a:off x="15192375" y="2762250"/>
            <a:ext cx="2381250" cy="1047750"/>
            <a:chOff x="0" y="0"/>
            <a:chExt cx="3175000" cy="1397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175000" cy="1397000"/>
            </a:xfrm>
            <a:custGeom>
              <a:avLst/>
              <a:gdLst/>
              <a:ahLst/>
              <a:cxnLst/>
              <a:rect l="l" t="t" r="r" b="b"/>
              <a:pathLst>
                <a:path w="3175000" h="1397000">
                  <a:moveTo>
                    <a:pt x="71120" y="0"/>
                  </a:moveTo>
                  <a:lnTo>
                    <a:pt x="3103880" y="0"/>
                  </a:lnTo>
                  <a:cubicBezTo>
                    <a:pt x="3143159" y="0"/>
                    <a:pt x="3175000" y="31842"/>
                    <a:pt x="3175000" y="71120"/>
                  </a:cubicBezTo>
                  <a:lnTo>
                    <a:pt x="3175000" y="1325880"/>
                  </a:lnTo>
                  <a:cubicBezTo>
                    <a:pt x="3175000" y="1365159"/>
                    <a:pt x="3143159" y="1397000"/>
                    <a:pt x="3103880" y="1397000"/>
                  </a:cubicBezTo>
                  <a:lnTo>
                    <a:pt x="71120" y="1397000"/>
                  </a:lnTo>
                  <a:cubicBezTo>
                    <a:pt x="31842" y="1397000"/>
                    <a:pt x="0" y="1365159"/>
                    <a:pt x="0" y="1325880"/>
                  </a:cubicBezTo>
                  <a:lnTo>
                    <a:pt x="0" y="71120"/>
                  </a:lnTo>
                  <a:cubicBezTo>
                    <a:pt x="0" y="31842"/>
                    <a:pt x="31842" y="0"/>
                    <a:pt x="7112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28575"/>
              <a:ext cx="3175000" cy="1425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IMPROVE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000" y="4762500"/>
            <a:ext cx="5143500" cy="904875"/>
            <a:chOff x="0" y="0"/>
            <a:chExt cx="6858000" cy="1206500"/>
          </a:xfrm>
        </p:grpSpPr>
        <p:grpSp>
          <p:nvGrpSpPr>
            <p:cNvPr id="32" name="Group 32"/>
            <p:cNvGrpSpPr/>
            <p:nvPr/>
          </p:nvGrpSpPr>
          <p:grpSpPr>
            <a:xfrm>
              <a:off x="0" y="0"/>
              <a:ext cx="6858000" cy="1206500"/>
              <a:chOff x="0" y="0"/>
              <a:chExt cx="6858000" cy="12065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6858000" cy="12065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1206500">
                    <a:moveTo>
                      <a:pt x="32926" y="0"/>
                    </a:moveTo>
                    <a:lnTo>
                      <a:pt x="6825074" y="0"/>
                    </a:lnTo>
                    <a:cubicBezTo>
                      <a:pt x="6833807" y="0"/>
                      <a:pt x="6842182" y="3469"/>
                      <a:pt x="6848356" y="9644"/>
                    </a:cubicBezTo>
                    <a:cubicBezTo>
                      <a:pt x="6854531" y="15819"/>
                      <a:pt x="6858000" y="24193"/>
                      <a:pt x="6858000" y="32926"/>
                    </a:cubicBezTo>
                    <a:lnTo>
                      <a:pt x="6858000" y="1173574"/>
                    </a:lnTo>
                    <a:cubicBezTo>
                      <a:pt x="6858000" y="1182307"/>
                      <a:pt x="6854531" y="1190681"/>
                      <a:pt x="6848356" y="1196856"/>
                    </a:cubicBezTo>
                    <a:cubicBezTo>
                      <a:pt x="6842182" y="1203031"/>
                      <a:pt x="6833807" y="1206500"/>
                      <a:pt x="6825074" y="1206500"/>
                    </a:cubicBezTo>
                    <a:lnTo>
                      <a:pt x="32926" y="1206500"/>
                    </a:lnTo>
                    <a:cubicBezTo>
                      <a:pt x="24193" y="1206500"/>
                      <a:pt x="15819" y="1203031"/>
                      <a:pt x="9644" y="1196856"/>
                    </a:cubicBezTo>
                    <a:cubicBezTo>
                      <a:pt x="3469" y="1190681"/>
                      <a:pt x="0" y="1182307"/>
                      <a:pt x="0" y="1173574"/>
                    </a:cubicBezTo>
                    <a:lnTo>
                      <a:pt x="0" y="32926"/>
                    </a:lnTo>
                    <a:cubicBezTo>
                      <a:pt x="0" y="24193"/>
                      <a:pt x="3469" y="15819"/>
                      <a:pt x="9644" y="9644"/>
                    </a:cubicBezTo>
                    <a:cubicBezTo>
                      <a:pt x="15819" y="3469"/>
                      <a:pt x="24193" y="0"/>
                      <a:pt x="3292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254000" y="282575"/>
              <a:ext cx="6604000" cy="3950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68"/>
                </a:lnSpc>
              </a:pPr>
              <a:r>
                <a:rPr lang="en-US" sz="2100" b="1">
                  <a:solidFill>
                    <a:srgbClr val="1020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Technical + behavioral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238875" y="4762500"/>
            <a:ext cx="5143500" cy="904875"/>
            <a:chOff x="0" y="0"/>
            <a:chExt cx="6858000" cy="1206500"/>
          </a:xfrm>
        </p:grpSpPr>
        <p:grpSp>
          <p:nvGrpSpPr>
            <p:cNvPr id="36" name="Group 36"/>
            <p:cNvGrpSpPr/>
            <p:nvPr/>
          </p:nvGrpSpPr>
          <p:grpSpPr>
            <a:xfrm>
              <a:off x="0" y="0"/>
              <a:ext cx="6858000" cy="1206500"/>
              <a:chOff x="0" y="0"/>
              <a:chExt cx="6858000" cy="12065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6858000" cy="12065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1206500">
                    <a:moveTo>
                      <a:pt x="32926" y="0"/>
                    </a:moveTo>
                    <a:lnTo>
                      <a:pt x="6825074" y="0"/>
                    </a:lnTo>
                    <a:cubicBezTo>
                      <a:pt x="6833807" y="0"/>
                      <a:pt x="6842182" y="3469"/>
                      <a:pt x="6848356" y="9644"/>
                    </a:cubicBezTo>
                    <a:cubicBezTo>
                      <a:pt x="6854531" y="15819"/>
                      <a:pt x="6858000" y="24193"/>
                      <a:pt x="6858000" y="32926"/>
                    </a:cubicBezTo>
                    <a:lnTo>
                      <a:pt x="6858000" y="1173574"/>
                    </a:lnTo>
                    <a:cubicBezTo>
                      <a:pt x="6858000" y="1182307"/>
                      <a:pt x="6854531" y="1190681"/>
                      <a:pt x="6848356" y="1196856"/>
                    </a:cubicBezTo>
                    <a:cubicBezTo>
                      <a:pt x="6842182" y="1203031"/>
                      <a:pt x="6833807" y="1206500"/>
                      <a:pt x="6825074" y="1206500"/>
                    </a:cubicBezTo>
                    <a:lnTo>
                      <a:pt x="32926" y="1206500"/>
                    </a:lnTo>
                    <a:cubicBezTo>
                      <a:pt x="24193" y="1206500"/>
                      <a:pt x="15819" y="1203031"/>
                      <a:pt x="9644" y="1196856"/>
                    </a:cubicBezTo>
                    <a:cubicBezTo>
                      <a:pt x="3469" y="1190681"/>
                      <a:pt x="0" y="1182307"/>
                      <a:pt x="0" y="1173574"/>
                    </a:cubicBezTo>
                    <a:lnTo>
                      <a:pt x="0" y="32926"/>
                    </a:lnTo>
                    <a:cubicBezTo>
                      <a:pt x="0" y="24193"/>
                      <a:pt x="3469" y="15819"/>
                      <a:pt x="9644" y="9644"/>
                    </a:cubicBezTo>
                    <a:cubicBezTo>
                      <a:pt x="15819" y="3469"/>
                      <a:pt x="24193" y="0"/>
                      <a:pt x="3292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254000" y="282575"/>
              <a:ext cx="6604000" cy="3950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68"/>
                </a:lnSpc>
              </a:pPr>
              <a:r>
                <a:rPr lang="en-US" sz="2100" b="1">
                  <a:solidFill>
                    <a:srgbClr val="1020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Coding + system design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1715750" y="4762500"/>
            <a:ext cx="5143500" cy="904875"/>
            <a:chOff x="0" y="0"/>
            <a:chExt cx="6858000" cy="1206500"/>
          </a:xfrm>
        </p:grpSpPr>
        <p:grpSp>
          <p:nvGrpSpPr>
            <p:cNvPr id="40" name="Group 40"/>
            <p:cNvGrpSpPr/>
            <p:nvPr/>
          </p:nvGrpSpPr>
          <p:grpSpPr>
            <a:xfrm>
              <a:off x="0" y="0"/>
              <a:ext cx="6858000" cy="1206500"/>
              <a:chOff x="0" y="0"/>
              <a:chExt cx="6858000" cy="12065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6858000" cy="12065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1206500">
                    <a:moveTo>
                      <a:pt x="32926" y="0"/>
                    </a:moveTo>
                    <a:lnTo>
                      <a:pt x="6825074" y="0"/>
                    </a:lnTo>
                    <a:cubicBezTo>
                      <a:pt x="6833807" y="0"/>
                      <a:pt x="6842182" y="3469"/>
                      <a:pt x="6848356" y="9644"/>
                    </a:cubicBezTo>
                    <a:cubicBezTo>
                      <a:pt x="6854531" y="15819"/>
                      <a:pt x="6858000" y="24193"/>
                      <a:pt x="6858000" y="32926"/>
                    </a:cubicBezTo>
                    <a:lnTo>
                      <a:pt x="6858000" y="1173574"/>
                    </a:lnTo>
                    <a:cubicBezTo>
                      <a:pt x="6858000" y="1182307"/>
                      <a:pt x="6854531" y="1190681"/>
                      <a:pt x="6848356" y="1196856"/>
                    </a:cubicBezTo>
                    <a:cubicBezTo>
                      <a:pt x="6842182" y="1203031"/>
                      <a:pt x="6833807" y="1206500"/>
                      <a:pt x="6825074" y="1206500"/>
                    </a:cubicBezTo>
                    <a:lnTo>
                      <a:pt x="32926" y="1206500"/>
                    </a:lnTo>
                    <a:cubicBezTo>
                      <a:pt x="24193" y="1206500"/>
                      <a:pt x="15819" y="1203031"/>
                      <a:pt x="9644" y="1196856"/>
                    </a:cubicBezTo>
                    <a:cubicBezTo>
                      <a:pt x="3469" y="1190681"/>
                      <a:pt x="0" y="1182307"/>
                      <a:pt x="0" y="1173574"/>
                    </a:cubicBezTo>
                    <a:lnTo>
                      <a:pt x="0" y="32926"/>
                    </a:lnTo>
                    <a:cubicBezTo>
                      <a:pt x="0" y="24193"/>
                      <a:pt x="3469" y="15819"/>
                      <a:pt x="9644" y="9644"/>
                    </a:cubicBezTo>
                    <a:cubicBezTo>
                      <a:pt x="15819" y="3469"/>
                      <a:pt x="24193" y="0"/>
                      <a:pt x="3292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254000" y="282575"/>
              <a:ext cx="6604000" cy="3950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68"/>
                </a:lnSpc>
              </a:pPr>
              <a:r>
                <a:rPr lang="en-US" sz="2100" b="1">
                  <a:solidFill>
                    <a:srgbClr val="1020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Voice + video analysis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62000" y="6000750"/>
            <a:ext cx="5143500" cy="904875"/>
            <a:chOff x="0" y="0"/>
            <a:chExt cx="6858000" cy="12065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6858000" cy="1206500"/>
              <a:chOff x="0" y="0"/>
              <a:chExt cx="6858000" cy="12065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6858000" cy="12065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1206500">
                    <a:moveTo>
                      <a:pt x="32926" y="0"/>
                    </a:moveTo>
                    <a:lnTo>
                      <a:pt x="6825074" y="0"/>
                    </a:lnTo>
                    <a:cubicBezTo>
                      <a:pt x="6833807" y="0"/>
                      <a:pt x="6842182" y="3469"/>
                      <a:pt x="6848356" y="9644"/>
                    </a:cubicBezTo>
                    <a:cubicBezTo>
                      <a:pt x="6854531" y="15819"/>
                      <a:pt x="6858000" y="24193"/>
                      <a:pt x="6858000" y="32926"/>
                    </a:cubicBezTo>
                    <a:lnTo>
                      <a:pt x="6858000" y="1173574"/>
                    </a:lnTo>
                    <a:cubicBezTo>
                      <a:pt x="6858000" y="1182307"/>
                      <a:pt x="6854531" y="1190681"/>
                      <a:pt x="6848356" y="1196856"/>
                    </a:cubicBezTo>
                    <a:cubicBezTo>
                      <a:pt x="6842182" y="1203031"/>
                      <a:pt x="6833807" y="1206500"/>
                      <a:pt x="6825074" y="1206500"/>
                    </a:cubicBezTo>
                    <a:lnTo>
                      <a:pt x="32926" y="1206500"/>
                    </a:lnTo>
                    <a:cubicBezTo>
                      <a:pt x="24193" y="1206500"/>
                      <a:pt x="15819" y="1203031"/>
                      <a:pt x="9644" y="1196856"/>
                    </a:cubicBezTo>
                    <a:cubicBezTo>
                      <a:pt x="3469" y="1190681"/>
                      <a:pt x="0" y="1182307"/>
                      <a:pt x="0" y="1173574"/>
                    </a:cubicBezTo>
                    <a:lnTo>
                      <a:pt x="0" y="32926"/>
                    </a:lnTo>
                    <a:cubicBezTo>
                      <a:pt x="0" y="24193"/>
                      <a:pt x="3469" y="15819"/>
                      <a:pt x="9644" y="9644"/>
                    </a:cubicBezTo>
                    <a:cubicBezTo>
                      <a:pt x="15819" y="3469"/>
                      <a:pt x="24193" y="0"/>
                      <a:pt x="3292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254000" y="282575"/>
              <a:ext cx="6604000" cy="3950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68"/>
                </a:lnSpc>
              </a:pPr>
              <a:r>
                <a:rPr lang="en-US" sz="2100" b="1">
                  <a:solidFill>
                    <a:srgbClr val="1020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Resume + ATS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238875" y="6000750"/>
            <a:ext cx="5143500" cy="904875"/>
            <a:chOff x="0" y="0"/>
            <a:chExt cx="6858000" cy="1206500"/>
          </a:xfrm>
        </p:grpSpPr>
        <p:grpSp>
          <p:nvGrpSpPr>
            <p:cNvPr id="48" name="Group 48"/>
            <p:cNvGrpSpPr/>
            <p:nvPr/>
          </p:nvGrpSpPr>
          <p:grpSpPr>
            <a:xfrm>
              <a:off x="0" y="0"/>
              <a:ext cx="6858000" cy="1206500"/>
              <a:chOff x="0" y="0"/>
              <a:chExt cx="6858000" cy="12065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6858000" cy="12065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1206500">
                    <a:moveTo>
                      <a:pt x="32926" y="0"/>
                    </a:moveTo>
                    <a:lnTo>
                      <a:pt x="6825074" y="0"/>
                    </a:lnTo>
                    <a:cubicBezTo>
                      <a:pt x="6833807" y="0"/>
                      <a:pt x="6842182" y="3469"/>
                      <a:pt x="6848356" y="9644"/>
                    </a:cubicBezTo>
                    <a:cubicBezTo>
                      <a:pt x="6854531" y="15819"/>
                      <a:pt x="6858000" y="24193"/>
                      <a:pt x="6858000" y="32926"/>
                    </a:cubicBezTo>
                    <a:lnTo>
                      <a:pt x="6858000" y="1173574"/>
                    </a:lnTo>
                    <a:cubicBezTo>
                      <a:pt x="6858000" y="1182307"/>
                      <a:pt x="6854531" y="1190681"/>
                      <a:pt x="6848356" y="1196856"/>
                    </a:cubicBezTo>
                    <a:cubicBezTo>
                      <a:pt x="6842182" y="1203031"/>
                      <a:pt x="6833807" y="1206500"/>
                      <a:pt x="6825074" y="1206500"/>
                    </a:cubicBezTo>
                    <a:lnTo>
                      <a:pt x="32926" y="1206500"/>
                    </a:lnTo>
                    <a:cubicBezTo>
                      <a:pt x="24193" y="1206500"/>
                      <a:pt x="15819" y="1203031"/>
                      <a:pt x="9644" y="1196856"/>
                    </a:cubicBezTo>
                    <a:cubicBezTo>
                      <a:pt x="3469" y="1190681"/>
                      <a:pt x="0" y="1182307"/>
                      <a:pt x="0" y="1173574"/>
                    </a:cubicBezTo>
                    <a:lnTo>
                      <a:pt x="0" y="32926"/>
                    </a:lnTo>
                    <a:cubicBezTo>
                      <a:pt x="0" y="24193"/>
                      <a:pt x="3469" y="15819"/>
                      <a:pt x="9644" y="9644"/>
                    </a:cubicBezTo>
                    <a:cubicBezTo>
                      <a:pt x="15819" y="3469"/>
                      <a:pt x="24193" y="0"/>
                      <a:pt x="3292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254000" y="282575"/>
              <a:ext cx="6604000" cy="3950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68"/>
                </a:lnSpc>
              </a:pPr>
              <a:r>
                <a:rPr lang="en-US" sz="2100" b="1">
                  <a:solidFill>
                    <a:srgbClr val="1020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Career coaching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1715750" y="6000750"/>
            <a:ext cx="5143500" cy="904875"/>
            <a:chOff x="0" y="0"/>
            <a:chExt cx="6858000" cy="1206500"/>
          </a:xfrm>
        </p:grpSpPr>
        <p:grpSp>
          <p:nvGrpSpPr>
            <p:cNvPr id="52" name="Group 52"/>
            <p:cNvGrpSpPr/>
            <p:nvPr/>
          </p:nvGrpSpPr>
          <p:grpSpPr>
            <a:xfrm>
              <a:off x="0" y="0"/>
              <a:ext cx="6858000" cy="1206500"/>
              <a:chOff x="0" y="0"/>
              <a:chExt cx="6858000" cy="120650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6858000" cy="12065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1206500">
                    <a:moveTo>
                      <a:pt x="32926" y="0"/>
                    </a:moveTo>
                    <a:lnTo>
                      <a:pt x="6825074" y="0"/>
                    </a:lnTo>
                    <a:cubicBezTo>
                      <a:pt x="6833807" y="0"/>
                      <a:pt x="6842182" y="3469"/>
                      <a:pt x="6848356" y="9644"/>
                    </a:cubicBezTo>
                    <a:cubicBezTo>
                      <a:pt x="6854531" y="15819"/>
                      <a:pt x="6858000" y="24193"/>
                      <a:pt x="6858000" y="32926"/>
                    </a:cubicBezTo>
                    <a:lnTo>
                      <a:pt x="6858000" y="1173574"/>
                    </a:lnTo>
                    <a:cubicBezTo>
                      <a:pt x="6858000" y="1182307"/>
                      <a:pt x="6854531" y="1190681"/>
                      <a:pt x="6848356" y="1196856"/>
                    </a:cubicBezTo>
                    <a:cubicBezTo>
                      <a:pt x="6842182" y="1203031"/>
                      <a:pt x="6833807" y="1206500"/>
                      <a:pt x="6825074" y="1206500"/>
                    </a:cubicBezTo>
                    <a:lnTo>
                      <a:pt x="32926" y="1206500"/>
                    </a:lnTo>
                    <a:cubicBezTo>
                      <a:pt x="24193" y="1206500"/>
                      <a:pt x="15819" y="1203031"/>
                      <a:pt x="9644" y="1196856"/>
                    </a:cubicBezTo>
                    <a:cubicBezTo>
                      <a:pt x="3469" y="1190681"/>
                      <a:pt x="0" y="1182307"/>
                      <a:pt x="0" y="1173574"/>
                    </a:cubicBezTo>
                    <a:lnTo>
                      <a:pt x="0" y="32926"/>
                    </a:lnTo>
                    <a:cubicBezTo>
                      <a:pt x="0" y="24193"/>
                      <a:pt x="3469" y="15819"/>
                      <a:pt x="9644" y="9644"/>
                    </a:cubicBezTo>
                    <a:cubicBezTo>
                      <a:pt x="15819" y="3469"/>
                      <a:pt x="24193" y="0"/>
                      <a:pt x="3292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254000" y="282575"/>
              <a:ext cx="6604000" cy="3950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68"/>
                </a:lnSpc>
              </a:pPr>
              <a:r>
                <a:rPr lang="en-US" sz="2100" b="1">
                  <a:solidFill>
                    <a:srgbClr val="1020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Learning roadmap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62000" y="7239000"/>
            <a:ext cx="5143500" cy="904875"/>
            <a:chOff x="0" y="0"/>
            <a:chExt cx="6858000" cy="1206500"/>
          </a:xfrm>
        </p:grpSpPr>
        <p:grpSp>
          <p:nvGrpSpPr>
            <p:cNvPr id="56" name="Group 56"/>
            <p:cNvGrpSpPr/>
            <p:nvPr/>
          </p:nvGrpSpPr>
          <p:grpSpPr>
            <a:xfrm>
              <a:off x="0" y="0"/>
              <a:ext cx="6858000" cy="1206500"/>
              <a:chOff x="0" y="0"/>
              <a:chExt cx="6858000" cy="120650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6858000" cy="12065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1206500">
                    <a:moveTo>
                      <a:pt x="32926" y="0"/>
                    </a:moveTo>
                    <a:lnTo>
                      <a:pt x="6825074" y="0"/>
                    </a:lnTo>
                    <a:cubicBezTo>
                      <a:pt x="6833807" y="0"/>
                      <a:pt x="6842182" y="3469"/>
                      <a:pt x="6848356" y="9644"/>
                    </a:cubicBezTo>
                    <a:cubicBezTo>
                      <a:pt x="6854531" y="15819"/>
                      <a:pt x="6858000" y="24193"/>
                      <a:pt x="6858000" y="32926"/>
                    </a:cubicBezTo>
                    <a:lnTo>
                      <a:pt x="6858000" y="1173574"/>
                    </a:lnTo>
                    <a:cubicBezTo>
                      <a:pt x="6858000" y="1182307"/>
                      <a:pt x="6854531" y="1190681"/>
                      <a:pt x="6848356" y="1196856"/>
                    </a:cubicBezTo>
                    <a:cubicBezTo>
                      <a:pt x="6842182" y="1203031"/>
                      <a:pt x="6833807" y="1206500"/>
                      <a:pt x="6825074" y="1206500"/>
                    </a:cubicBezTo>
                    <a:lnTo>
                      <a:pt x="32926" y="1206500"/>
                    </a:lnTo>
                    <a:cubicBezTo>
                      <a:pt x="24193" y="1206500"/>
                      <a:pt x="15819" y="1203031"/>
                      <a:pt x="9644" y="1196856"/>
                    </a:cubicBezTo>
                    <a:cubicBezTo>
                      <a:pt x="3469" y="1190681"/>
                      <a:pt x="0" y="1182307"/>
                      <a:pt x="0" y="1173574"/>
                    </a:cubicBezTo>
                    <a:lnTo>
                      <a:pt x="0" y="32926"/>
                    </a:lnTo>
                    <a:cubicBezTo>
                      <a:pt x="0" y="24193"/>
                      <a:pt x="3469" y="15819"/>
                      <a:pt x="9644" y="9644"/>
                    </a:cubicBezTo>
                    <a:cubicBezTo>
                      <a:pt x="15819" y="3469"/>
                      <a:pt x="24193" y="0"/>
                      <a:pt x="3292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254000" y="282575"/>
              <a:ext cx="6604000" cy="3950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68"/>
                </a:lnSpc>
              </a:pPr>
              <a:r>
                <a:rPr lang="en-US" sz="2100" b="1">
                  <a:solidFill>
                    <a:srgbClr val="1020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Question hub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238875" y="7239000"/>
            <a:ext cx="5143500" cy="904875"/>
            <a:chOff x="0" y="0"/>
            <a:chExt cx="6858000" cy="1206500"/>
          </a:xfrm>
        </p:grpSpPr>
        <p:grpSp>
          <p:nvGrpSpPr>
            <p:cNvPr id="60" name="Group 60"/>
            <p:cNvGrpSpPr/>
            <p:nvPr/>
          </p:nvGrpSpPr>
          <p:grpSpPr>
            <a:xfrm>
              <a:off x="0" y="0"/>
              <a:ext cx="6858000" cy="1206500"/>
              <a:chOff x="0" y="0"/>
              <a:chExt cx="6858000" cy="120650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6858000" cy="12065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1206500">
                    <a:moveTo>
                      <a:pt x="32926" y="0"/>
                    </a:moveTo>
                    <a:lnTo>
                      <a:pt x="6825074" y="0"/>
                    </a:lnTo>
                    <a:cubicBezTo>
                      <a:pt x="6833807" y="0"/>
                      <a:pt x="6842182" y="3469"/>
                      <a:pt x="6848356" y="9644"/>
                    </a:cubicBezTo>
                    <a:cubicBezTo>
                      <a:pt x="6854531" y="15819"/>
                      <a:pt x="6858000" y="24193"/>
                      <a:pt x="6858000" y="32926"/>
                    </a:cubicBezTo>
                    <a:lnTo>
                      <a:pt x="6858000" y="1173574"/>
                    </a:lnTo>
                    <a:cubicBezTo>
                      <a:pt x="6858000" y="1182307"/>
                      <a:pt x="6854531" y="1190681"/>
                      <a:pt x="6848356" y="1196856"/>
                    </a:cubicBezTo>
                    <a:cubicBezTo>
                      <a:pt x="6842182" y="1203031"/>
                      <a:pt x="6833807" y="1206500"/>
                      <a:pt x="6825074" y="1206500"/>
                    </a:cubicBezTo>
                    <a:lnTo>
                      <a:pt x="32926" y="1206500"/>
                    </a:lnTo>
                    <a:cubicBezTo>
                      <a:pt x="24193" y="1206500"/>
                      <a:pt x="15819" y="1203031"/>
                      <a:pt x="9644" y="1196856"/>
                    </a:cubicBezTo>
                    <a:cubicBezTo>
                      <a:pt x="3469" y="1190681"/>
                      <a:pt x="0" y="1182307"/>
                      <a:pt x="0" y="1173574"/>
                    </a:cubicBezTo>
                    <a:lnTo>
                      <a:pt x="0" y="32926"/>
                    </a:lnTo>
                    <a:cubicBezTo>
                      <a:pt x="0" y="24193"/>
                      <a:pt x="3469" y="15819"/>
                      <a:pt x="9644" y="9644"/>
                    </a:cubicBezTo>
                    <a:cubicBezTo>
                      <a:pt x="15819" y="3469"/>
                      <a:pt x="24193" y="0"/>
                      <a:pt x="3292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254000" y="282575"/>
              <a:ext cx="6604000" cy="3950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68"/>
                </a:lnSpc>
              </a:pPr>
              <a:r>
                <a:rPr lang="en-US" sz="2100" b="1">
                  <a:solidFill>
                    <a:srgbClr val="1020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Scheduling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1715750" y="7239000"/>
            <a:ext cx="5143500" cy="904875"/>
            <a:chOff x="0" y="0"/>
            <a:chExt cx="6858000" cy="1206500"/>
          </a:xfrm>
        </p:grpSpPr>
        <p:grpSp>
          <p:nvGrpSpPr>
            <p:cNvPr id="64" name="Group 64"/>
            <p:cNvGrpSpPr/>
            <p:nvPr/>
          </p:nvGrpSpPr>
          <p:grpSpPr>
            <a:xfrm>
              <a:off x="0" y="0"/>
              <a:ext cx="6858000" cy="1206500"/>
              <a:chOff x="0" y="0"/>
              <a:chExt cx="6858000" cy="120650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6858000" cy="12065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1206500">
                    <a:moveTo>
                      <a:pt x="32926" y="0"/>
                    </a:moveTo>
                    <a:lnTo>
                      <a:pt x="6825074" y="0"/>
                    </a:lnTo>
                    <a:cubicBezTo>
                      <a:pt x="6833807" y="0"/>
                      <a:pt x="6842182" y="3469"/>
                      <a:pt x="6848356" y="9644"/>
                    </a:cubicBezTo>
                    <a:cubicBezTo>
                      <a:pt x="6854531" y="15819"/>
                      <a:pt x="6858000" y="24193"/>
                      <a:pt x="6858000" y="32926"/>
                    </a:cubicBezTo>
                    <a:lnTo>
                      <a:pt x="6858000" y="1173574"/>
                    </a:lnTo>
                    <a:cubicBezTo>
                      <a:pt x="6858000" y="1182307"/>
                      <a:pt x="6854531" y="1190681"/>
                      <a:pt x="6848356" y="1196856"/>
                    </a:cubicBezTo>
                    <a:cubicBezTo>
                      <a:pt x="6842182" y="1203031"/>
                      <a:pt x="6833807" y="1206500"/>
                      <a:pt x="6825074" y="1206500"/>
                    </a:cubicBezTo>
                    <a:lnTo>
                      <a:pt x="32926" y="1206500"/>
                    </a:lnTo>
                    <a:cubicBezTo>
                      <a:pt x="24193" y="1206500"/>
                      <a:pt x="15819" y="1203031"/>
                      <a:pt x="9644" y="1196856"/>
                    </a:cubicBezTo>
                    <a:cubicBezTo>
                      <a:pt x="3469" y="1190681"/>
                      <a:pt x="0" y="1182307"/>
                      <a:pt x="0" y="1173574"/>
                    </a:cubicBezTo>
                    <a:lnTo>
                      <a:pt x="0" y="32926"/>
                    </a:lnTo>
                    <a:cubicBezTo>
                      <a:pt x="0" y="24193"/>
                      <a:pt x="3469" y="15819"/>
                      <a:pt x="9644" y="9644"/>
                    </a:cubicBezTo>
                    <a:cubicBezTo>
                      <a:pt x="15819" y="3469"/>
                      <a:pt x="24193" y="0"/>
                      <a:pt x="3292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254000" y="282575"/>
              <a:ext cx="6604000" cy="3950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68"/>
                </a:lnSpc>
              </a:pPr>
              <a:r>
                <a:rPr lang="en-US" sz="2100" b="1">
                  <a:solidFill>
                    <a:srgbClr val="1020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Gamification + analytics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495300"/>
            <a:ext cx="219075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146C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 / RESEARCH GAP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6300" y="895350"/>
            <a:ext cx="14287500" cy="557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1">
                <a:solidFill>
                  <a:srgbClr val="1020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fragmented tools to one intelligence layer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6300" y="1457325"/>
            <a:ext cx="14763750" cy="28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The research gap is not another question bank — it is integrated, personalised decision support.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18288000" cy="95250"/>
            <a:chOff x="0" y="0"/>
            <a:chExt cx="24384000" cy="127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27000"/>
            </a:xfrm>
            <a:custGeom>
              <a:avLst/>
              <a:gdLst/>
              <a:ahLst/>
              <a:cxnLst/>
              <a:rect l="l" t="t" r="r" b="b"/>
              <a:pathLst>
                <a:path w="24384000" h="127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146CFF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47750" y="2533650"/>
            <a:ext cx="6667500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 spc="168">
                <a:solidFill>
                  <a:srgbClr val="EF5B6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FRAGMENTED TODAY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810750" y="2533650"/>
            <a:ext cx="6667500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 spc="168">
                <a:solidFill>
                  <a:srgbClr val="146C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INTERVIEWACE AI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47750" y="3238500"/>
            <a:ext cx="3000375" cy="1143000"/>
            <a:chOff x="0" y="0"/>
            <a:chExt cx="4000500" cy="1524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000500" cy="1524000"/>
            </a:xfrm>
            <a:custGeom>
              <a:avLst/>
              <a:gdLst/>
              <a:ahLst/>
              <a:cxnLst/>
              <a:rect l="l" t="t" r="r" b="b"/>
              <a:pathLst>
                <a:path w="4000500" h="1524000">
                  <a:moveTo>
                    <a:pt x="56444" y="0"/>
                  </a:moveTo>
                  <a:lnTo>
                    <a:pt x="3944055" y="0"/>
                  </a:lnTo>
                  <a:cubicBezTo>
                    <a:pt x="3959025" y="0"/>
                    <a:pt x="3973382" y="5947"/>
                    <a:pt x="3983968" y="16532"/>
                  </a:cubicBezTo>
                  <a:cubicBezTo>
                    <a:pt x="3994553" y="27118"/>
                    <a:pt x="4000500" y="41474"/>
                    <a:pt x="4000500" y="56444"/>
                  </a:cubicBezTo>
                  <a:lnTo>
                    <a:pt x="4000500" y="1467556"/>
                  </a:lnTo>
                  <a:cubicBezTo>
                    <a:pt x="4000500" y="1482526"/>
                    <a:pt x="3994553" y="1496882"/>
                    <a:pt x="3983968" y="1507468"/>
                  </a:cubicBezTo>
                  <a:cubicBezTo>
                    <a:pt x="3973382" y="1518053"/>
                    <a:pt x="3959025" y="1524000"/>
                    <a:pt x="3944055" y="1524000"/>
                  </a:cubicBezTo>
                  <a:lnTo>
                    <a:pt x="56444" y="1524000"/>
                  </a:lnTo>
                  <a:cubicBezTo>
                    <a:pt x="41474" y="1524000"/>
                    <a:pt x="27118" y="1518053"/>
                    <a:pt x="16532" y="1507468"/>
                  </a:cubicBezTo>
                  <a:cubicBezTo>
                    <a:pt x="5947" y="1496882"/>
                    <a:pt x="0" y="1482526"/>
                    <a:pt x="0" y="1467556"/>
                  </a:cubicBezTo>
                  <a:lnTo>
                    <a:pt x="0" y="56444"/>
                  </a:lnTo>
                  <a:cubicBezTo>
                    <a:pt x="0" y="41474"/>
                    <a:pt x="5947" y="27118"/>
                    <a:pt x="16532" y="16532"/>
                  </a:cubicBezTo>
                  <a:cubicBezTo>
                    <a:pt x="27118" y="5947"/>
                    <a:pt x="41474" y="0"/>
                    <a:pt x="56444" y="0"/>
                  </a:cubicBezTo>
                  <a:close/>
                </a:path>
              </a:pathLst>
            </a:custGeom>
            <a:solidFill>
              <a:srgbClr val="FFF0F2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4000500" cy="1552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Generic preparation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810750" y="3238500"/>
            <a:ext cx="3000375" cy="1143000"/>
            <a:chOff x="0" y="0"/>
            <a:chExt cx="4000500" cy="1524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000500" cy="1524000"/>
            </a:xfrm>
            <a:custGeom>
              <a:avLst/>
              <a:gdLst/>
              <a:ahLst/>
              <a:cxnLst/>
              <a:rect l="l" t="t" r="r" b="b"/>
              <a:pathLst>
                <a:path w="4000500" h="1524000">
                  <a:moveTo>
                    <a:pt x="56444" y="0"/>
                  </a:moveTo>
                  <a:lnTo>
                    <a:pt x="3944055" y="0"/>
                  </a:lnTo>
                  <a:cubicBezTo>
                    <a:pt x="3959025" y="0"/>
                    <a:pt x="3973382" y="5947"/>
                    <a:pt x="3983968" y="16532"/>
                  </a:cubicBezTo>
                  <a:cubicBezTo>
                    <a:pt x="3994553" y="27118"/>
                    <a:pt x="4000500" y="41474"/>
                    <a:pt x="4000500" y="56444"/>
                  </a:cubicBezTo>
                  <a:lnTo>
                    <a:pt x="4000500" y="1467556"/>
                  </a:lnTo>
                  <a:cubicBezTo>
                    <a:pt x="4000500" y="1482526"/>
                    <a:pt x="3994553" y="1496882"/>
                    <a:pt x="3983968" y="1507468"/>
                  </a:cubicBezTo>
                  <a:cubicBezTo>
                    <a:pt x="3973382" y="1518053"/>
                    <a:pt x="3959025" y="1524000"/>
                    <a:pt x="3944055" y="1524000"/>
                  </a:cubicBezTo>
                  <a:lnTo>
                    <a:pt x="56444" y="1524000"/>
                  </a:lnTo>
                  <a:cubicBezTo>
                    <a:pt x="41474" y="1524000"/>
                    <a:pt x="27118" y="1518053"/>
                    <a:pt x="16532" y="1507468"/>
                  </a:cubicBezTo>
                  <a:cubicBezTo>
                    <a:pt x="5947" y="1496882"/>
                    <a:pt x="0" y="1482526"/>
                    <a:pt x="0" y="1467556"/>
                  </a:cubicBezTo>
                  <a:lnTo>
                    <a:pt x="0" y="56444"/>
                  </a:lnTo>
                  <a:cubicBezTo>
                    <a:pt x="0" y="41474"/>
                    <a:pt x="5947" y="27118"/>
                    <a:pt x="16532" y="16532"/>
                  </a:cubicBezTo>
                  <a:cubicBezTo>
                    <a:pt x="27118" y="5947"/>
                    <a:pt x="41474" y="0"/>
                    <a:pt x="5644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4000500" cy="1552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Resume Intelligence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429125" y="3238500"/>
            <a:ext cx="3000375" cy="1143000"/>
            <a:chOff x="0" y="0"/>
            <a:chExt cx="4000500" cy="1524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000500" cy="1524000"/>
            </a:xfrm>
            <a:custGeom>
              <a:avLst/>
              <a:gdLst/>
              <a:ahLst/>
              <a:cxnLst/>
              <a:rect l="l" t="t" r="r" b="b"/>
              <a:pathLst>
                <a:path w="4000500" h="1524000">
                  <a:moveTo>
                    <a:pt x="56444" y="0"/>
                  </a:moveTo>
                  <a:lnTo>
                    <a:pt x="3944055" y="0"/>
                  </a:lnTo>
                  <a:cubicBezTo>
                    <a:pt x="3959025" y="0"/>
                    <a:pt x="3973382" y="5947"/>
                    <a:pt x="3983968" y="16532"/>
                  </a:cubicBezTo>
                  <a:cubicBezTo>
                    <a:pt x="3994553" y="27118"/>
                    <a:pt x="4000500" y="41474"/>
                    <a:pt x="4000500" y="56444"/>
                  </a:cubicBezTo>
                  <a:lnTo>
                    <a:pt x="4000500" y="1467556"/>
                  </a:lnTo>
                  <a:cubicBezTo>
                    <a:pt x="4000500" y="1482526"/>
                    <a:pt x="3994553" y="1496882"/>
                    <a:pt x="3983968" y="1507468"/>
                  </a:cubicBezTo>
                  <a:cubicBezTo>
                    <a:pt x="3973382" y="1518053"/>
                    <a:pt x="3959025" y="1524000"/>
                    <a:pt x="3944055" y="1524000"/>
                  </a:cubicBezTo>
                  <a:lnTo>
                    <a:pt x="56444" y="1524000"/>
                  </a:lnTo>
                  <a:cubicBezTo>
                    <a:pt x="41474" y="1524000"/>
                    <a:pt x="27118" y="1518053"/>
                    <a:pt x="16532" y="1507468"/>
                  </a:cubicBezTo>
                  <a:cubicBezTo>
                    <a:pt x="5947" y="1496882"/>
                    <a:pt x="0" y="1482526"/>
                    <a:pt x="0" y="1467556"/>
                  </a:cubicBezTo>
                  <a:lnTo>
                    <a:pt x="0" y="56444"/>
                  </a:lnTo>
                  <a:cubicBezTo>
                    <a:pt x="0" y="41474"/>
                    <a:pt x="5947" y="27118"/>
                    <a:pt x="16532" y="16532"/>
                  </a:cubicBezTo>
                  <a:cubicBezTo>
                    <a:pt x="27118" y="5947"/>
                    <a:pt x="41474" y="0"/>
                    <a:pt x="56444" y="0"/>
                  </a:cubicBezTo>
                  <a:close/>
                </a:path>
              </a:pathLst>
            </a:custGeom>
            <a:solidFill>
              <a:srgbClr val="FFF0F2"/>
            </a:solidFill>
            <a:ln cap="sq">
              <a:noFill/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4000500" cy="1552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No personal practice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192125" y="3238500"/>
            <a:ext cx="3000375" cy="1143000"/>
            <a:chOff x="0" y="0"/>
            <a:chExt cx="4000500" cy="1524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000500" cy="1524000"/>
            </a:xfrm>
            <a:custGeom>
              <a:avLst/>
              <a:gdLst/>
              <a:ahLst/>
              <a:cxnLst/>
              <a:rect l="l" t="t" r="r" b="b"/>
              <a:pathLst>
                <a:path w="4000500" h="1524000">
                  <a:moveTo>
                    <a:pt x="56444" y="0"/>
                  </a:moveTo>
                  <a:lnTo>
                    <a:pt x="3944055" y="0"/>
                  </a:lnTo>
                  <a:cubicBezTo>
                    <a:pt x="3959025" y="0"/>
                    <a:pt x="3973382" y="5947"/>
                    <a:pt x="3983968" y="16532"/>
                  </a:cubicBezTo>
                  <a:cubicBezTo>
                    <a:pt x="3994553" y="27118"/>
                    <a:pt x="4000500" y="41474"/>
                    <a:pt x="4000500" y="56444"/>
                  </a:cubicBezTo>
                  <a:lnTo>
                    <a:pt x="4000500" y="1467556"/>
                  </a:lnTo>
                  <a:cubicBezTo>
                    <a:pt x="4000500" y="1482526"/>
                    <a:pt x="3994553" y="1496882"/>
                    <a:pt x="3983968" y="1507468"/>
                  </a:cubicBezTo>
                  <a:cubicBezTo>
                    <a:pt x="3973382" y="1518053"/>
                    <a:pt x="3959025" y="1524000"/>
                    <a:pt x="3944055" y="1524000"/>
                  </a:cubicBezTo>
                  <a:lnTo>
                    <a:pt x="56444" y="1524000"/>
                  </a:lnTo>
                  <a:cubicBezTo>
                    <a:pt x="41474" y="1524000"/>
                    <a:pt x="27118" y="1518053"/>
                    <a:pt x="16532" y="1507468"/>
                  </a:cubicBezTo>
                  <a:cubicBezTo>
                    <a:pt x="5947" y="1496882"/>
                    <a:pt x="0" y="1482526"/>
                    <a:pt x="0" y="1467556"/>
                  </a:cubicBezTo>
                  <a:lnTo>
                    <a:pt x="0" y="56444"/>
                  </a:lnTo>
                  <a:cubicBezTo>
                    <a:pt x="0" y="41474"/>
                    <a:pt x="5947" y="27118"/>
                    <a:pt x="16532" y="16532"/>
                  </a:cubicBezTo>
                  <a:cubicBezTo>
                    <a:pt x="27118" y="5947"/>
                    <a:pt x="41474" y="0"/>
                    <a:pt x="5644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4000500" cy="1552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AI Interview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47750" y="4857750"/>
            <a:ext cx="3000375" cy="1143000"/>
            <a:chOff x="0" y="0"/>
            <a:chExt cx="4000500" cy="1524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000500" cy="1524000"/>
            </a:xfrm>
            <a:custGeom>
              <a:avLst/>
              <a:gdLst/>
              <a:ahLst/>
              <a:cxnLst/>
              <a:rect l="l" t="t" r="r" b="b"/>
              <a:pathLst>
                <a:path w="4000500" h="1524000">
                  <a:moveTo>
                    <a:pt x="56444" y="0"/>
                  </a:moveTo>
                  <a:lnTo>
                    <a:pt x="3944055" y="0"/>
                  </a:lnTo>
                  <a:cubicBezTo>
                    <a:pt x="3959025" y="0"/>
                    <a:pt x="3973382" y="5947"/>
                    <a:pt x="3983968" y="16532"/>
                  </a:cubicBezTo>
                  <a:cubicBezTo>
                    <a:pt x="3994553" y="27118"/>
                    <a:pt x="4000500" y="41474"/>
                    <a:pt x="4000500" y="56444"/>
                  </a:cubicBezTo>
                  <a:lnTo>
                    <a:pt x="4000500" y="1467556"/>
                  </a:lnTo>
                  <a:cubicBezTo>
                    <a:pt x="4000500" y="1482526"/>
                    <a:pt x="3994553" y="1496882"/>
                    <a:pt x="3983968" y="1507468"/>
                  </a:cubicBezTo>
                  <a:cubicBezTo>
                    <a:pt x="3973382" y="1518053"/>
                    <a:pt x="3959025" y="1524000"/>
                    <a:pt x="3944055" y="1524000"/>
                  </a:cubicBezTo>
                  <a:lnTo>
                    <a:pt x="56444" y="1524000"/>
                  </a:lnTo>
                  <a:cubicBezTo>
                    <a:pt x="41474" y="1524000"/>
                    <a:pt x="27118" y="1518053"/>
                    <a:pt x="16532" y="1507468"/>
                  </a:cubicBezTo>
                  <a:cubicBezTo>
                    <a:pt x="5947" y="1496882"/>
                    <a:pt x="0" y="1482526"/>
                    <a:pt x="0" y="1467556"/>
                  </a:cubicBezTo>
                  <a:lnTo>
                    <a:pt x="0" y="56444"/>
                  </a:lnTo>
                  <a:cubicBezTo>
                    <a:pt x="0" y="41474"/>
                    <a:pt x="5947" y="27118"/>
                    <a:pt x="16532" y="16532"/>
                  </a:cubicBezTo>
                  <a:cubicBezTo>
                    <a:pt x="27118" y="5947"/>
                    <a:pt x="41474" y="0"/>
                    <a:pt x="56444" y="0"/>
                  </a:cubicBezTo>
                  <a:close/>
                </a:path>
              </a:pathLst>
            </a:custGeom>
            <a:solidFill>
              <a:srgbClr val="FFF0F2"/>
            </a:solidFill>
            <a:ln cap="sq">
              <a:noFill/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28575"/>
              <a:ext cx="4000500" cy="1552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Tool switching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810750" y="4857750"/>
            <a:ext cx="3000375" cy="1143000"/>
            <a:chOff x="0" y="0"/>
            <a:chExt cx="4000500" cy="1524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000500" cy="1524000"/>
            </a:xfrm>
            <a:custGeom>
              <a:avLst/>
              <a:gdLst/>
              <a:ahLst/>
              <a:cxnLst/>
              <a:rect l="l" t="t" r="r" b="b"/>
              <a:pathLst>
                <a:path w="4000500" h="1524000">
                  <a:moveTo>
                    <a:pt x="56444" y="0"/>
                  </a:moveTo>
                  <a:lnTo>
                    <a:pt x="3944055" y="0"/>
                  </a:lnTo>
                  <a:cubicBezTo>
                    <a:pt x="3959025" y="0"/>
                    <a:pt x="3973382" y="5947"/>
                    <a:pt x="3983968" y="16532"/>
                  </a:cubicBezTo>
                  <a:cubicBezTo>
                    <a:pt x="3994553" y="27118"/>
                    <a:pt x="4000500" y="41474"/>
                    <a:pt x="4000500" y="56444"/>
                  </a:cubicBezTo>
                  <a:lnTo>
                    <a:pt x="4000500" y="1467556"/>
                  </a:lnTo>
                  <a:cubicBezTo>
                    <a:pt x="4000500" y="1482526"/>
                    <a:pt x="3994553" y="1496882"/>
                    <a:pt x="3983968" y="1507468"/>
                  </a:cubicBezTo>
                  <a:cubicBezTo>
                    <a:pt x="3973382" y="1518053"/>
                    <a:pt x="3959025" y="1524000"/>
                    <a:pt x="3944055" y="1524000"/>
                  </a:cubicBezTo>
                  <a:lnTo>
                    <a:pt x="56444" y="1524000"/>
                  </a:lnTo>
                  <a:cubicBezTo>
                    <a:pt x="41474" y="1524000"/>
                    <a:pt x="27118" y="1518053"/>
                    <a:pt x="16532" y="1507468"/>
                  </a:cubicBezTo>
                  <a:cubicBezTo>
                    <a:pt x="5947" y="1496882"/>
                    <a:pt x="0" y="1482526"/>
                    <a:pt x="0" y="1467556"/>
                  </a:cubicBezTo>
                  <a:lnTo>
                    <a:pt x="0" y="56444"/>
                  </a:lnTo>
                  <a:cubicBezTo>
                    <a:pt x="0" y="41474"/>
                    <a:pt x="5947" y="27118"/>
                    <a:pt x="16532" y="16532"/>
                  </a:cubicBezTo>
                  <a:cubicBezTo>
                    <a:pt x="27118" y="5947"/>
                    <a:pt x="41474" y="0"/>
                    <a:pt x="5644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28575"/>
              <a:ext cx="4000500" cy="1552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Live Coding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429125" y="4857750"/>
            <a:ext cx="3000375" cy="1143000"/>
            <a:chOff x="0" y="0"/>
            <a:chExt cx="4000500" cy="1524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000500" cy="1524000"/>
            </a:xfrm>
            <a:custGeom>
              <a:avLst/>
              <a:gdLst/>
              <a:ahLst/>
              <a:cxnLst/>
              <a:rect l="l" t="t" r="r" b="b"/>
              <a:pathLst>
                <a:path w="4000500" h="1524000">
                  <a:moveTo>
                    <a:pt x="56444" y="0"/>
                  </a:moveTo>
                  <a:lnTo>
                    <a:pt x="3944055" y="0"/>
                  </a:lnTo>
                  <a:cubicBezTo>
                    <a:pt x="3959025" y="0"/>
                    <a:pt x="3973382" y="5947"/>
                    <a:pt x="3983968" y="16532"/>
                  </a:cubicBezTo>
                  <a:cubicBezTo>
                    <a:pt x="3994553" y="27118"/>
                    <a:pt x="4000500" y="41474"/>
                    <a:pt x="4000500" y="56444"/>
                  </a:cubicBezTo>
                  <a:lnTo>
                    <a:pt x="4000500" y="1467556"/>
                  </a:lnTo>
                  <a:cubicBezTo>
                    <a:pt x="4000500" y="1482526"/>
                    <a:pt x="3994553" y="1496882"/>
                    <a:pt x="3983968" y="1507468"/>
                  </a:cubicBezTo>
                  <a:cubicBezTo>
                    <a:pt x="3973382" y="1518053"/>
                    <a:pt x="3959025" y="1524000"/>
                    <a:pt x="3944055" y="1524000"/>
                  </a:cubicBezTo>
                  <a:lnTo>
                    <a:pt x="56444" y="1524000"/>
                  </a:lnTo>
                  <a:cubicBezTo>
                    <a:pt x="41474" y="1524000"/>
                    <a:pt x="27118" y="1518053"/>
                    <a:pt x="16532" y="1507468"/>
                  </a:cubicBezTo>
                  <a:cubicBezTo>
                    <a:pt x="5947" y="1496882"/>
                    <a:pt x="0" y="1482526"/>
                    <a:pt x="0" y="1467556"/>
                  </a:cubicBezTo>
                  <a:lnTo>
                    <a:pt x="0" y="56444"/>
                  </a:lnTo>
                  <a:cubicBezTo>
                    <a:pt x="0" y="41474"/>
                    <a:pt x="5947" y="27118"/>
                    <a:pt x="16532" y="16532"/>
                  </a:cubicBezTo>
                  <a:cubicBezTo>
                    <a:pt x="27118" y="5947"/>
                    <a:pt x="41474" y="0"/>
                    <a:pt x="56444" y="0"/>
                  </a:cubicBezTo>
                  <a:close/>
                </a:path>
              </a:pathLst>
            </a:custGeom>
            <a:solidFill>
              <a:srgbClr val="FFF0F2"/>
            </a:solidFill>
            <a:ln cap="sq">
              <a:noFill/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28575"/>
              <a:ext cx="4000500" cy="1552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Limited mentorship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3192125" y="4857750"/>
            <a:ext cx="3000375" cy="1143000"/>
            <a:chOff x="0" y="0"/>
            <a:chExt cx="4000500" cy="15240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000500" cy="1524000"/>
            </a:xfrm>
            <a:custGeom>
              <a:avLst/>
              <a:gdLst/>
              <a:ahLst/>
              <a:cxnLst/>
              <a:rect l="l" t="t" r="r" b="b"/>
              <a:pathLst>
                <a:path w="4000500" h="1524000">
                  <a:moveTo>
                    <a:pt x="56444" y="0"/>
                  </a:moveTo>
                  <a:lnTo>
                    <a:pt x="3944055" y="0"/>
                  </a:lnTo>
                  <a:cubicBezTo>
                    <a:pt x="3959025" y="0"/>
                    <a:pt x="3973382" y="5947"/>
                    <a:pt x="3983968" y="16532"/>
                  </a:cubicBezTo>
                  <a:cubicBezTo>
                    <a:pt x="3994553" y="27118"/>
                    <a:pt x="4000500" y="41474"/>
                    <a:pt x="4000500" y="56444"/>
                  </a:cubicBezTo>
                  <a:lnTo>
                    <a:pt x="4000500" y="1467556"/>
                  </a:lnTo>
                  <a:cubicBezTo>
                    <a:pt x="4000500" y="1482526"/>
                    <a:pt x="3994553" y="1496882"/>
                    <a:pt x="3983968" y="1507468"/>
                  </a:cubicBezTo>
                  <a:cubicBezTo>
                    <a:pt x="3973382" y="1518053"/>
                    <a:pt x="3959025" y="1524000"/>
                    <a:pt x="3944055" y="1524000"/>
                  </a:cubicBezTo>
                  <a:lnTo>
                    <a:pt x="56444" y="1524000"/>
                  </a:lnTo>
                  <a:cubicBezTo>
                    <a:pt x="41474" y="1524000"/>
                    <a:pt x="27118" y="1518053"/>
                    <a:pt x="16532" y="1507468"/>
                  </a:cubicBezTo>
                  <a:cubicBezTo>
                    <a:pt x="5947" y="1496882"/>
                    <a:pt x="0" y="1482526"/>
                    <a:pt x="0" y="1467556"/>
                  </a:cubicBezTo>
                  <a:lnTo>
                    <a:pt x="0" y="56444"/>
                  </a:lnTo>
                  <a:cubicBezTo>
                    <a:pt x="0" y="41474"/>
                    <a:pt x="5947" y="27118"/>
                    <a:pt x="16532" y="16532"/>
                  </a:cubicBezTo>
                  <a:cubicBezTo>
                    <a:pt x="27118" y="5947"/>
                    <a:pt x="41474" y="0"/>
                    <a:pt x="5644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28575"/>
              <a:ext cx="4000500" cy="1552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System Design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47750" y="6477000"/>
            <a:ext cx="3000375" cy="1143000"/>
            <a:chOff x="0" y="0"/>
            <a:chExt cx="4000500" cy="15240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000500" cy="1524000"/>
            </a:xfrm>
            <a:custGeom>
              <a:avLst/>
              <a:gdLst/>
              <a:ahLst/>
              <a:cxnLst/>
              <a:rect l="l" t="t" r="r" b="b"/>
              <a:pathLst>
                <a:path w="4000500" h="1524000">
                  <a:moveTo>
                    <a:pt x="56444" y="0"/>
                  </a:moveTo>
                  <a:lnTo>
                    <a:pt x="3944055" y="0"/>
                  </a:lnTo>
                  <a:cubicBezTo>
                    <a:pt x="3959025" y="0"/>
                    <a:pt x="3973382" y="5947"/>
                    <a:pt x="3983968" y="16532"/>
                  </a:cubicBezTo>
                  <a:cubicBezTo>
                    <a:pt x="3994553" y="27118"/>
                    <a:pt x="4000500" y="41474"/>
                    <a:pt x="4000500" y="56444"/>
                  </a:cubicBezTo>
                  <a:lnTo>
                    <a:pt x="4000500" y="1467556"/>
                  </a:lnTo>
                  <a:cubicBezTo>
                    <a:pt x="4000500" y="1482526"/>
                    <a:pt x="3994553" y="1496882"/>
                    <a:pt x="3983968" y="1507468"/>
                  </a:cubicBezTo>
                  <a:cubicBezTo>
                    <a:pt x="3973382" y="1518053"/>
                    <a:pt x="3959025" y="1524000"/>
                    <a:pt x="3944055" y="1524000"/>
                  </a:cubicBezTo>
                  <a:lnTo>
                    <a:pt x="56444" y="1524000"/>
                  </a:lnTo>
                  <a:cubicBezTo>
                    <a:pt x="41474" y="1524000"/>
                    <a:pt x="27118" y="1518053"/>
                    <a:pt x="16532" y="1507468"/>
                  </a:cubicBezTo>
                  <a:cubicBezTo>
                    <a:pt x="5947" y="1496882"/>
                    <a:pt x="0" y="1482526"/>
                    <a:pt x="0" y="1467556"/>
                  </a:cubicBezTo>
                  <a:lnTo>
                    <a:pt x="0" y="56444"/>
                  </a:lnTo>
                  <a:cubicBezTo>
                    <a:pt x="0" y="41474"/>
                    <a:pt x="5947" y="27118"/>
                    <a:pt x="16532" y="16532"/>
                  </a:cubicBezTo>
                  <a:cubicBezTo>
                    <a:pt x="27118" y="5947"/>
                    <a:pt x="41474" y="0"/>
                    <a:pt x="56444" y="0"/>
                  </a:cubicBezTo>
                  <a:close/>
                </a:path>
              </a:pathLst>
            </a:custGeom>
            <a:solidFill>
              <a:srgbClr val="FFF0F2"/>
            </a:solidFill>
            <a:ln cap="sq">
              <a:noFill/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-28575"/>
              <a:ext cx="4000500" cy="1552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Hidden skill gaps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810750" y="6477000"/>
            <a:ext cx="3000375" cy="1143000"/>
            <a:chOff x="0" y="0"/>
            <a:chExt cx="4000500" cy="15240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000500" cy="1524000"/>
            </a:xfrm>
            <a:custGeom>
              <a:avLst/>
              <a:gdLst/>
              <a:ahLst/>
              <a:cxnLst/>
              <a:rect l="l" t="t" r="r" b="b"/>
              <a:pathLst>
                <a:path w="4000500" h="1524000">
                  <a:moveTo>
                    <a:pt x="56444" y="0"/>
                  </a:moveTo>
                  <a:lnTo>
                    <a:pt x="3944055" y="0"/>
                  </a:lnTo>
                  <a:cubicBezTo>
                    <a:pt x="3959025" y="0"/>
                    <a:pt x="3973382" y="5947"/>
                    <a:pt x="3983968" y="16532"/>
                  </a:cubicBezTo>
                  <a:cubicBezTo>
                    <a:pt x="3994553" y="27118"/>
                    <a:pt x="4000500" y="41474"/>
                    <a:pt x="4000500" y="56444"/>
                  </a:cubicBezTo>
                  <a:lnTo>
                    <a:pt x="4000500" y="1467556"/>
                  </a:lnTo>
                  <a:cubicBezTo>
                    <a:pt x="4000500" y="1482526"/>
                    <a:pt x="3994553" y="1496882"/>
                    <a:pt x="3983968" y="1507468"/>
                  </a:cubicBezTo>
                  <a:cubicBezTo>
                    <a:pt x="3973382" y="1518053"/>
                    <a:pt x="3959025" y="1524000"/>
                    <a:pt x="3944055" y="1524000"/>
                  </a:cubicBezTo>
                  <a:lnTo>
                    <a:pt x="56444" y="1524000"/>
                  </a:lnTo>
                  <a:cubicBezTo>
                    <a:pt x="41474" y="1524000"/>
                    <a:pt x="27118" y="1518053"/>
                    <a:pt x="16532" y="1507468"/>
                  </a:cubicBezTo>
                  <a:cubicBezTo>
                    <a:pt x="5947" y="1496882"/>
                    <a:pt x="0" y="1482526"/>
                    <a:pt x="0" y="1467556"/>
                  </a:cubicBezTo>
                  <a:lnTo>
                    <a:pt x="0" y="56444"/>
                  </a:lnTo>
                  <a:cubicBezTo>
                    <a:pt x="0" y="41474"/>
                    <a:pt x="5947" y="27118"/>
                    <a:pt x="16532" y="16532"/>
                  </a:cubicBezTo>
                  <a:cubicBezTo>
                    <a:pt x="27118" y="5947"/>
                    <a:pt x="41474" y="0"/>
                    <a:pt x="5644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-28575"/>
              <a:ext cx="4000500" cy="1552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Career + Learning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429125" y="6477000"/>
            <a:ext cx="3000375" cy="1143000"/>
            <a:chOff x="0" y="0"/>
            <a:chExt cx="4000500" cy="15240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000500" cy="1524000"/>
            </a:xfrm>
            <a:custGeom>
              <a:avLst/>
              <a:gdLst/>
              <a:ahLst/>
              <a:cxnLst/>
              <a:rect l="l" t="t" r="r" b="b"/>
              <a:pathLst>
                <a:path w="4000500" h="1524000">
                  <a:moveTo>
                    <a:pt x="56444" y="0"/>
                  </a:moveTo>
                  <a:lnTo>
                    <a:pt x="3944055" y="0"/>
                  </a:lnTo>
                  <a:cubicBezTo>
                    <a:pt x="3959025" y="0"/>
                    <a:pt x="3973382" y="5947"/>
                    <a:pt x="3983968" y="16532"/>
                  </a:cubicBezTo>
                  <a:cubicBezTo>
                    <a:pt x="3994553" y="27118"/>
                    <a:pt x="4000500" y="41474"/>
                    <a:pt x="4000500" y="56444"/>
                  </a:cubicBezTo>
                  <a:lnTo>
                    <a:pt x="4000500" y="1467556"/>
                  </a:lnTo>
                  <a:cubicBezTo>
                    <a:pt x="4000500" y="1482526"/>
                    <a:pt x="3994553" y="1496882"/>
                    <a:pt x="3983968" y="1507468"/>
                  </a:cubicBezTo>
                  <a:cubicBezTo>
                    <a:pt x="3973382" y="1518053"/>
                    <a:pt x="3959025" y="1524000"/>
                    <a:pt x="3944055" y="1524000"/>
                  </a:cubicBezTo>
                  <a:lnTo>
                    <a:pt x="56444" y="1524000"/>
                  </a:lnTo>
                  <a:cubicBezTo>
                    <a:pt x="41474" y="1524000"/>
                    <a:pt x="27118" y="1518053"/>
                    <a:pt x="16532" y="1507468"/>
                  </a:cubicBezTo>
                  <a:cubicBezTo>
                    <a:pt x="5947" y="1496882"/>
                    <a:pt x="0" y="1482526"/>
                    <a:pt x="0" y="1467556"/>
                  </a:cubicBezTo>
                  <a:lnTo>
                    <a:pt x="0" y="56444"/>
                  </a:lnTo>
                  <a:cubicBezTo>
                    <a:pt x="0" y="41474"/>
                    <a:pt x="5947" y="27118"/>
                    <a:pt x="16532" y="16532"/>
                  </a:cubicBezTo>
                  <a:cubicBezTo>
                    <a:pt x="27118" y="5947"/>
                    <a:pt x="41474" y="0"/>
                    <a:pt x="56444" y="0"/>
                  </a:cubicBezTo>
                  <a:close/>
                </a:path>
              </a:pathLst>
            </a:custGeom>
            <a:solidFill>
              <a:srgbClr val="FFF0F2"/>
            </a:solidFill>
            <a:ln cap="sq">
              <a:noFill/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0" y="-28575"/>
              <a:ext cx="4000500" cy="1552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No realistic simulation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3192125" y="6477000"/>
            <a:ext cx="3000375" cy="1143000"/>
            <a:chOff x="0" y="0"/>
            <a:chExt cx="4000500" cy="15240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4000500" cy="1524000"/>
            </a:xfrm>
            <a:custGeom>
              <a:avLst/>
              <a:gdLst/>
              <a:ahLst/>
              <a:cxnLst/>
              <a:rect l="l" t="t" r="r" b="b"/>
              <a:pathLst>
                <a:path w="4000500" h="1524000">
                  <a:moveTo>
                    <a:pt x="56444" y="0"/>
                  </a:moveTo>
                  <a:lnTo>
                    <a:pt x="3944055" y="0"/>
                  </a:lnTo>
                  <a:cubicBezTo>
                    <a:pt x="3959025" y="0"/>
                    <a:pt x="3973382" y="5947"/>
                    <a:pt x="3983968" y="16532"/>
                  </a:cubicBezTo>
                  <a:cubicBezTo>
                    <a:pt x="3994553" y="27118"/>
                    <a:pt x="4000500" y="41474"/>
                    <a:pt x="4000500" y="56444"/>
                  </a:cubicBezTo>
                  <a:lnTo>
                    <a:pt x="4000500" y="1467556"/>
                  </a:lnTo>
                  <a:cubicBezTo>
                    <a:pt x="4000500" y="1482526"/>
                    <a:pt x="3994553" y="1496882"/>
                    <a:pt x="3983968" y="1507468"/>
                  </a:cubicBezTo>
                  <a:cubicBezTo>
                    <a:pt x="3973382" y="1518053"/>
                    <a:pt x="3959025" y="1524000"/>
                    <a:pt x="3944055" y="1524000"/>
                  </a:cubicBezTo>
                  <a:lnTo>
                    <a:pt x="56444" y="1524000"/>
                  </a:lnTo>
                  <a:cubicBezTo>
                    <a:pt x="41474" y="1524000"/>
                    <a:pt x="27118" y="1518053"/>
                    <a:pt x="16532" y="1507468"/>
                  </a:cubicBezTo>
                  <a:cubicBezTo>
                    <a:pt x="5947" y="1496882"/>
                    <a:pt x="0" y="1482526"/>
                    <a:pt x="0" y="1467556"/>
                  </a:cubicBezTo>
                  <a:lnTo>
                    <a:pt x="0" y="56444"/>
                  </a:lnTo>
                  <a:cubicBezTo>
                    <a:pt x="0" y="41474"/>
                    <a:pt x="5947" y="27118"/>
                    <a:pt x="16532" y="16532"/>
                  </a:cubicBezTo>
                  <a:cubicBezTo>
                    <a:pt x="27118" y="5947"/>
                    <a:pt x="41474" y="0"/>
                    <a:pt x="56444" y="0"/>
                  </a:cubicBezTo>
                  <a:close/>
                </a:path>
              </a:pathLst>
            </a:custGeom>
            <a:solidFill>
              <a:srgbClr val="146CFF"/>
            </a:solidFill>
            <a:ln cap="sq">
              <a:noFill/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0" y="-28575"/>
              <a:ext cx="4000500" cy="1552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Unified Analytics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953375" y="5048250"/>
            <a:ext cx="1428750" cy="1428750"/>
            <a:chOff x="0" y="0"/>
            <a:chExt cx="1905000" cy="19050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905000" cy="1905000"/>
            </a:xfrm>
            <a:custGeom>
              <a:avLst/>
              <a:gdLst/>
              <a:ahLst/>
              <a:cxnLst/>
              <a:rect l="l" t="t" r="r" b="b"/>
              <a:pathLst>
                <a:path w="1905000" h="1905000">
                  <a:moveTo>
                    <a:pt x="118533" y="0"/>
                  </a:moveTo>
                  <a:lnTo>
                    <a:pt x="1786467" y="0"/>
                  </a:lnTo>
                  <a:cubicBezTo>
                    <a:pt x="1817904" y="0"/>
                    <a:pt x="1848053" y="12488"/>
                    <a:pt x="1870282" y="34718"/>
                  </a:cubicBezTo>
                  <a:cubicBezTo>
                    <a:pt x="1892512" y="56947"/>
                    <a:pt x="1905000" y="87096"/>
                    <a:pt x="1905000" y="118533"/>
                  </a:cubicBezTo>
                  <a:lnTo>
                    <a:pt x="1905000" y="1786467"/>
                  </a:lnTo>
                  <a:cubicBezTo>
                    <a:pt x="1905000" y="1817904"/>
                    <a:pt x="1892512" y="1848053"/>
                    <a:pt x="1870282" y="1870282"/>
                  </a:cubicBezTo>
                  <a:cubicBezTo>
                    <a:pt x="1848053" y="1892512"/>
                    <a:pt x="1817904" y="1905000"/>
                    <a:pt x="1786467" y="1905000"/>
                  </a:cubicBezTo>
                  <a:lnTo>
                    <a:pt x="118533" y="1905000"/>
                  </a:lnTo>
                  <a:cubicBezTo>
                    <a:pt x="87096" y="1905000"/>
                    <a:pt x="56947" y="1892512"/>
                    <a:pt x="34718" y="1870282"/>
                  </a:cubicBezTo>
                  <a:cubicBezTo>
                    <a:pt x="12488" y="1848053"/>
                    <a:pt x="0" y="1817904"/>
                    <a:pt x="0" y="1786467"/>
                  </a:cubicBezTo>
                  <a:lnTo>
                    <a:pt x="0" y="118533"/>
                  </a:lnTo>
                  <a:cubicBezTo>
                    <a:pt x="0" y="87096"/>
                    <a:pt x="12488" y="56947"/>
                    <a:pt x="34718" y="34718"/>
                  </a:cubicBezTo>
                  <a:cubicBezTo>
                    <a:pt x="56947" y="12488"/>
                    <a:pt x="87096" y="0"/>
                    <a:pt x="118533" y="0"/>
                  </a:cubicBezTo>
                  <a:close/>
                </a:path>
              </a:pathLst>
            </a:custGeom>
            <a:solidFill>
              <a:srgbClr val="22D3EE"/>
            </a:solidFill>
            <a:ln cap="sq">
              <a:noFill/>
              <a:prstDash val="solid"/>
              <a:miter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0" y="-28575"/>
              <a:ext cx="1905000" cy="1933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07152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ONE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07152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PLATFORM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495300"/>
            <a:ext cx="219075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146C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 / ECOSYSTEM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6300" y="895350"/>
            <a:ext cx="14287500" cy="557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1">
                <a:solidFill>
                  <a:srgbClr val="1020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13 modules. One candidate intelligence graph.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6300" y="1457325"/>
            <a:ext cx="14763750" cy="28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Signals from every activity continuously shape practice, coaching and the next best action.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18288000" cy="95250"/>
            <a:chOff x="0" y="0"/>
            <a:chExt cx="24384000" cy="127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27000"/>
            </a:xfrm>
            <a:custGeom>
              <a:avLst/>
              <a:gdLst/>
              <a:ahLst/>
              <a:cxnLst/>
              <a:rect l="l" t="t" r="r" b="b"/>
              <a:pathLst>
                <a:path w="24384000" h="127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146CFF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38250" y="2857500"/>
            <a:ext cx="2714625" cy="1190625"/>
            <a:chOff x="0" y="0"/>
            <a:chExt cx="3619500" cy="15875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619500" cy="1587500"/>
            </a:xfrm>
            <a:custGeom>
              <a:avLst/>
              <a:gdLst/>
              <a:ahLst/>
              <a:cxnLst/>
              <a:rect l="l" t="t" r="r" b="b"/>
              <a:pathLst>
                <a:path w="3619500" h="1587500">
                  <a:moveTo>
                    <a:pt x="62386" y="0"/>
                  </a:moveTo>
                  <a:lnTo>
                    <a:pt x="3557114" y="0"/>
                  </a:lnTo>
                  <a:cubicBezTo>
                    <a:pt x="3573660" y="0"/>
                    <a:pt x="3589528" y="6573"/>
                    <a:pt x="3601227" y="18272"/>
                  </a:cubicBezTo>
                  <a:cubicBezTo>
                    <a:pt x="3612927" y="29972"/>
                    <a:pt x="3619500" y="45840"/>
                    <a:pt x="3619500" y="62386"/>
                  </a:cubicBezTo>
                  <a:lnTo>
                    <a:pt x="3619500" y="1525114"/>
                  </a:lnTo>
                  <a:cubicBezTo>
                    <a:pt x="3619500" y="1541660"/>
                    <a:pt x="3612927" y="1557528"/>
                    <a:pt x="3601227" y="1569228"/>
                  </a:cubicBezTo>
                  <a:cubicBezTo>
                    <a:pt x="3589528" y="1580927"/>
                    <a:pt x="3573660" y="1587500"/>
                    <a:pt x="3557114" y="1587500"/>
                  </a:cubicBezTo>
                  <a:lnTo>
                    <a:pt x="62386" y="1587500"/>
                  </a:lnTo>
                  <a:cubicBezTo>
                    <a:pt x="45840" y="1587500"/>
                    <a:pt x="29972" y="1580927"/>
                    <a:pt x="18272" y="1569228"/>
                  </a:cubicBezTo>
                  <a:cubicBezTo>
                    <a:pt x="6573" y="1557528"/>
                    <a:pt x="0" y="1541660"/>
                    <a:pt x="0" y="1525114"/>
                  </a:cubicBezTo>
                  <a:lnTo>
                    <a:pt x="0" y="62386"/>
                  </a:lnTo>
                  <a:cubicBezTo>
                    <a:pt x="0" y="45840"/>
                    <a:pt x="6573" y="29972"/>
                    <a:pt x="18272" y="18272"/>
                  </a:cubicBezTo>
                  <a:cubicBezTo>
                    <a:pt x="29972" y="6573"/>
                    <a:pt x="45840" y="0"/>
                    <a:pt x="62386" y="0"/>
                  </a:cubicBezTo>
                  <a:close/>
                </a:path>
              </a:pathLst>
            </a:custGeom>
            <a:solidFill>
              <a:srgbClr val="146CFF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3619500" cy="1616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AI Mock Interviews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381500" y="2857500"/>
            <a:ext cx="2714625" cy="1190625"/>
            <a:chOff x="0" y="0"/>
            <a:chExt cx="3619500" cy="15875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9500" cy="1587500"/>
            </a:xfrm>
            <a:custGeom>
              <a:avLst/>
              <a:gdLst/>
              <a:ahLst/>
              <a:cxnLst/>
              <a:rect l="l" t="t" r="r" b="b"/>
              <a:pathLst>
                <a:path w="3619500" h="1587500">
                  <a:moveTo>
                    <a:pt x="62386" y="0"/>
                  </a:moveTo>
                  <a:lnTo>
                    <a:pt x="3557114" y="0"/>
                  </a:lnTo>
                  <a:cubicBezTo>
                    <a:pt x="3573660" y="0"/>
                    <a:pt x="3589528" y="6573"/>
                    <a:pt x="3601227" y="18272"/>
                  </a:cubicBezTo>
                  <a:cubicBezTo>
                    <a:pt x="3612927" y="29972"/>
                    <a:pt x="3619500" y="45840"/>
                    <a:pt x="3619500" y="62386"/>
                  </a:cubicBezTo>
                  <a:lnTo>
                    <a:pt x="3619500" y="1525114"/>
                  </a:lnTo>
                  <a:cubicBezTo>
                    <a:pt x="3619500" y="1541660"/>
                    <a:pt x="3612927" y="1557528"/>
                    <a:pt x="3601227" y="1569228"/>
                  </a:cubicBezTo>
                  <a:cubicBezTo>
                    <a:pt x="3589528" y="1580927"/>
                    <a:pt x="3573660" y="1587500"/>
                    <a:pt x="3557114" y="1587500"/>
                  </a:cubicBezTo>
                  <a:lnTo>
                    <a:pt x="62386" y="1587500"/>
                  </a:lnTo>
                  <a:cubicBezTo>
                    <a:pt x="45840" y="1587500"/>
                    <a:pt x="29972" y="1580927"/>
                    <a:pt x="18272" y="1569228"/>
                  </a:cubicBezTo>
                  <a:cubicBezTo>
                    <a:pt x="6573" y="1557528"/>
                    <a:pt x="0" y="1541660"/>
                    <a:pt x="0" y="1525114"/>
                  </a:cubicBezTo>
                  <a:lnTo>
                    <a:pt x="0" y="62386"/>
                  </a:lnTo>
                  <a:cubicBezTo>
                    <a:pt x="0" y="45840"/>
                    <a:pt x="6573" y="29972"/>
                    <a:pt x="18272" y="18272"/>
                  </a:cubicBezTo>
                  <a:cubicBezTo>
                    <a:pt x="29972" y="6573"/>
                    <a:pt x="45840" y="0"/>
                    <a:pt x="6238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3619500" cy="1616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Live Coding Studio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524750" y="2857500"/>
            <a:ext cx="2714625" cy="1190625"/>
            <a:chOff x="0" y="0"/>
            <a:chExt cx="3619500" cy="15875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619500" cy="1587500"/>
            </a:xfrm>
            <a:custGeom>
              <a:avLst/>
              <a:gdLst/>
              <a:ahLst/>
              <a:cxnLst/>
              <a:rect l="l" t="t" r="r" b="b"/>
              <a:pathLst>
                <a:path w="3619500" h="1587500">
                  <a:moveTo>
                    <a:pt x="62386" y="0"/>
                  </a:moveTo>
                  <a:lnTo>
                    <a:pt x="3557114" y="0"/>
                  </a:lnTo>
                  <a:cubicBezTo>
                    <a:pt x="3573660" y="0"/>
                    <a:pt x="3589528" y="6573"/>
                    <a:pt x="3601227" y="18272"/>
                  </a:cubicBezTo>
                  <a:cubicBezTo>
                    <a:pt x="3612927" y="29972"/>
                    <a:pt x="3619500" y="45840"/>
                    <a:pt x="3619500" y="62386"/>
                  </a:cubicBezTo>
                  <a:lnTo>
                    <a:pt x="3619500" y="1525114"/>
                  </a:lnTo>
                  <a:cubicBezTo>
                    <a:pt x="3619500" y="1541660"/>
                    <a:pt x="3612927" y="1557528"/>
                    <a:pt x="3601227" y="1569228"/>
                  </a:cubicBezTo>
                  <a:cubicBezTo>
                    <a:pt x="3589528" y="1580927"/>
                    <a:pt x="3573660" y="1587500"/>
                    <a:pt x="3557114" y="1587500"/>
                  </a:cubicBezTo>
                  <a:lnTo>
                    <a:pt x="62386" y="1587500"/>
                  </a:lnTo>
                  <a:cubicBezTo>
                    <a:pt x="45840" y="1587500"/>
                    <a:pt x="29972" y="1580927"/>
                    <a:pt x="18272" y="1569228"/>
                  </a:cubicBezTo>
                  <a:cubicBezTo>
                    <a:pt x="6573" y="1557528"/>
                    <a:pt x="0" y="1541660"/>
                    <a:pt x="0" y="1525114"/>
                  </a:cubicBezTo>
                  <a:lnTo>
                    <a:pt x="0" y="62386"/>
                  </a:lnTo>
                  <a:cubicBezTo>
                    <a:pt x="0" y="45840"/>
                    <a:pt x="6573" y="29972"/>
                    <a:pt x="18272" y="18272"/>
                  </a:cubicBezTo>
                  <a:cubicBezTo>
                    <a:pt x="29972" y="6573"/>
                    <a:pt x="45840" y="0"/>
                    <a:pt x="6238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3619500" cy="1616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Voice + Video AI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668000" y="2857500"/>
            <a:ext cx="2714625" cy="1190625"/>
            <a:chOff x="0" y="0"/>
            <a:chExt cx="3619500" cy="15875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619500" cy="1587500"/>
            </a:xfrm>
            <a:custGeom>
              <a:avLst/>
              <a:gdLst/>
              <a:ahLst/>
              <a:cxnLst/>
              <a:rect l="l" t="t" r="r" b="b"/>
              <a:pathLst>
                <a:path w="3619500" h="1587500">
                  <a:moveTo>
                    <a:pt x="62386" y="0"/>
                  </a:moveTo>
                  <a:lnTo>
                    <a:pt x="3557114" y="0"/>
                  </a:lnTo>
                  <a:cubicBezTo>
                    <a:pt x="3573660" y="0"/>
                    <a:pt x="3589528" y="6573"/>
                    <a:pt x="3601227" y="18272"/>
                  </a:cubicBezTo>
                  <a:cubicBezTo>
                    <a:pt x="3612927" y="29972"/>
                    <a:pt x="3619500" y="45840"/>
                    <a:pt x="3619500" y="62386"/>
                  </a:cubicBezTo>
                  <a:lnTo>
                    <a:pt x="3619500" y="1525114"/>
                  </a:lnTo>
                  <a:cubicBezTo>
                    <a:pt x="3619500" y="1541660"/>
                    <a:pt x="3612927" y="1557528"/>
                    <a:pt x="3601227" y="1569228"/>
                  </a:cubicBezTo>
                  <a:cubicBezTo>
                    <a:pt x="3589528" y="1580927"/>
                    <a:pt x="3573660" y="1587500"/>
                    <a:pt x="3557114" y="1587500"/>
                  </a:cubicBezTo>
                  <a:lnTo>
                    <a:pt x="62386" y="1587500"/>
                  </a:lnTo>
                  <a:cubicBezTo>
                    <a:pt x="45840" y="1587500"/>
                    <a:pt x="29972" y="1580927"/>
                    <a:pt x="18272" y="1569228"/>
                  </a:cubicBezTo>
                  <a:cubicBezTo>
                    <a:pt x="6573" y="1557528"/>
                    <a:pt x="0" y="1541660"/>
                    <a:pt x="0" y="1525114"/>
                  </a:cubicBezTo>
                  <a:lnTo>
                    <a:pt x="0" y="62386"/>
                  </a:lnTo>
                  <a:cubicBezTo>
                    <a:pt x="0" y="45840"/>
                    <a:pt x="6573" y="29972"/>
                    <a:pt x="18272" y="18272"/>
                  </a:cubicBezTo>
                  <a:cubicBezTo>
                    <a:pt x="29972" y="6573"/>
                    <a:pt x="45840" y="0"/>
                    <a:pt x="6238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3619500" cy="1616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Resume + ATS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38250" y="4953000"/>
            <a:ext cx="2714625" cy="1190625"/>
            <a:chOff x="0" y="0"/>
            <a:chExt cx="3619500" cy="15875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619500" cy="1587500"/>
            </a:xfrm>
            <a:custGeom>
              <a:avLst/>
              <a:gdLst/>
              <a:ahLst/>
              <a:cxnLst/>
              <a:rect l="l" t="t" r="r" b="b"/>
              <a:pathLst>
                <a:path w="3619500" h="1587500">
                  <a:moveTo>
                    <a:pt x="62386" y="0"/>
                  </a:moveTo>
                  <a:lnTo>
                    <a:pt x="3557114" y="0"/>
                  </a:lnTo>
                  <a:cubicBezTo>
                    <a:pt x="3573660" y="0"/>
                    <a:pt x="3589528" y="6573"/>
                    <a:pt x="3601227" y="18272"/>
                  </a:cubicBezTo>
                  <a:cubicBezTo>
                    <a:pt x="3612927" y="29972"/>
                    <a:pt x="3619500" y="45840"/>
                    <a:pt x="3619500" y="62386"/>
                  </a:cubicBezTo>
                  <a:lnTo>
                    <a:pt x="3619500" y="1525114"/>
                  </a:lnTo>
                  <a:cubicBezTo>
                    <a:pt x="3619500" y="1541660"/>
                    <a:pt x="3612927" y="1557528"/>
                    <a:pt x="3601227" y="1569228"/>
                  </a:cubicBezTo>
                  <a:cubicBezTo>
                    <a:pt x="3589528" y="1580927"/>
                    <a:pt x="3573660" y="1587500"/>
                    <a:pt x="3557114" y="1587500"/>
                  </a:cubicBezTo>
                  <a:lnTo>
                    <a:pt x="62386" y="1587500"/>
                  </a:lnTo>
                  <a:cubicBezTo>
                    <a:pt x="45840" y="1587500"/>
                    <a:pt x="29972" y="1580927"/>
                    <a:pt x="18272" y="1569228"/>
                  </a:cubicBezTo>
                  <a:cubicBezTo>
                    <a:pt x="6573" y="1557528"/>
                    <a:pt x="0" y="1541660"/>
                    <a:pt x="0" y="1525114"/>
                  </a:cubicBezTo>
                  <a:lnTo>
                    <a:pt x="0" y="62386"/>
                  </a:lnTo>
                  <a:cubicBezTo>
                    <a:pt x="0" y="45840"/>
                    <a:pt x="6573" y="29972"/>
                    <a:pt x="18272" y="18272"/>
                  </a:cubicBezTo>
                  <a:cubicBezTo>
                    <a:pt x="29972" y="6573"/>
                    <a:pt x="45840" y="0"/>
                    <a:pt x="6238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3619500" cy="1616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Cover Letters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806488" y="2857500"/>
            <a:ext cx="2714625" cy="1190625"/>
            <a:chOff x="0" y="0"/>
            <a:chExt cx="3619500" cy="15875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619500" cy="1587500"/>
            </a:xfrm>
            <a:custGeom>
              <a:avLst/>
              <a:gdLst/>
              <a:ahLst/>
              <a:cxnLst/>
              <a:rect l="l" t="t" r="r" b="b"/>
              <a:pathLst>
                <a:path w="3619500" h="1587500">
                  <a:moveTo>
                    <a:pt x="62386" y="0"/>
                  </a:moveTo>
                  <a:lnTo>
                    <a:pt x="3557114" y="0"/>
                  </a:lnTo>
                  <a:cubicBezTo>
                    <a:pt x="3573660" y="0"/>
                    <a:pt x="3589528" y="6573"/>
                    <a:pt x="3601227" y="18272"/>
                  </a:cubicBezTo>
                  <a:cubicBezTo>
                    <a:pt x="3612927" y="29972"/>
                    <a:pt x="3619500" y="45840"/>
                    <a:pt x="3619500" y="62386"/>
                  </a:cubicBezTo>
                  <a:lnTo>
                    <a:pt x="3619500" y="1525114"/>
                  </a:lnTo>
                  <a:cubicBezTo>
                    <a:pt x="3619500" y="1541660"/>
                    <a:pt x="3612927" y="1557528"/>
                    <a:pt x="3601227" y="1569228"/>
                  </a:cubicBezTo>
                  <a:cubicBezTo>
                    <a:pt x="3589528" y="1580927"/>
                    <a:pt x="3573660" y="1587500"/>
                    <a:pt x="3557114" y="1587500"/>
                  </a:cubicBezTo>
                  <a:lnTo>
                    <a:pt x="62386" y="1587500"/>
                  </a:lnTo>
                  <a:cubicBezTo>
                    <a:pt x="45840" y="1587500"/>
                    <a:pt x="29972" y="1580927"/>
                    <a:pt x="18272" y="1569228"/>
                  </a:cubicBezTo>
                  <a:cubicBezTo>
                    <a:pt x="6573" y="1557528"/>
                    <a:pt x="0" y="1541660"/>
                    <a:pt x="0" y="1525114"/>
                  </a:cubicBezTo>
                  <a:lnTo>
                    <a:pt x="0" y="62386"/>
                  </a:lnTo>
                  <a:cubicBezTo>
                    <a:pt x="0" y="45840"/>
                    <a:pt x="6573" y="29972"/>
                    <a:pt x="18272" y="18272"/>
                  </a:cubicBezTo>
                  <a:cubicBezTo>
                    <a:pt x="29972" y="6573"/>
                    <a:pt x="45840" y="0"/>
                    <a:pt x="6238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3619500" cy="1616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Career Coach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668000" y="7048500"/>
            <a:ext cx="2714625" cy="1190625"/>
            <a:chOff x="0" y="0"/>
            <a:chExt cx="3619500" cy="15875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619500" cy="1587500"/>
            </a:xfrm>
            <a:custGeom>
              <a:avLst/>
              <a:gdLst/>
              <a:ahLst/>
              <a:cxnLst/>
              <a:rect l="l" t="t" r="r" b="b"/>
              <a:pathLst>
                <a:path w="3619500" h="1587500">
                  <a:moveTo>
                    <a:pt x="62386" y="0"/>
                  </a:moveTo>
                  <a:lnTo>
                    <a:pt x="3557114" y="0"/>
                  </a:lnTo>
                  <a:cubicBezTo>
                    <a:pt x="3573660" y="0"/>
                    <a:pt x="3589528" y="6573"/>
                    <a:pt x="3601227" y="18272"/>
                  </a:cubicBezTo>
                  <a:cubicBezTo>
                    <a:pt x="3612927" y="29972"/>
                    <a:pt x="3619500" y="45840"/>
                    <a:pt x="3619500" y="62386"/>
                  </a:cubicBezTo>
                  <a:lnTo>
                    <a:pt x="3619500" y="1525114"/>
                  </a:lnTo>
                  <a:cubicBezTo>
                    <a:pt x="3619500" y="1541660"/>
                    <a:pt x="3612927" y="1557528"/>
                    <a:pt x="3601227" y="1569228"/>
                  </a:cubicBezTo>
                  <a:cubicBezTo>
                    <a:pt x="3589528" y="1580927"/>
                    <a:pt x="3573660" y="1587500"/>
                    <a:pt x="3557114" y="1587500"/>
                  </a:cubicBezTo>
                  <a:lnTo>
                    <a:pt x="62386" y="1587500"/>
                  </a:lnTo>
                  <a:cubicBezTo>
                    <a:pt x="45840" y="1587500"/>
                    <a:pt x="29972" y="1580927"/>
                    <a:pt x="18272" y="1569228"/>
                  </a:cubicBezTo>
                  <a:cubicBezTo>
                    <a:pt x="6573" y="1557528"/>
                    <a:pt x="0" y="1541660"/>
                    <a:pt x="0" y="1525114"/>
                  </a:cubicBezTo>
                  <a:lnTo>
                    <a:pt x="0" y="62386"/>
                  </a:lnTo>
                  <a:cubicBezTo>
                    <a:pt x="0" y="45840"/>
                    <a:pt x="6573" y="29972"/>
                    <a:pt x="18272" y="18272"/>
                  </a:cubicBezTo>
                  <a:cubicBezTo>
                    <a:pt x="29972" y="6573"/>
                    <a:pt x="45840" y="0"/>
                    <a:pt x="6238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3619500" cy="1616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Learning Roadmap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524750" y="7048500"/>
            <a:ext cx="2714625" cy="1190625"/>
            <a:chOff x="0" y="0"/>
            <a:chExt cx="3619500" cy="15875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619500" cy="1587500"/>
            </a:xfrm>
            <a:custGeom>
              <a:avLst/>
              <a:gdLst/>
              <a:ahLst/>
              <a:cxnLst/>
              <a:rect l="l" t="t" r="r" b="b"/>
              <a:pathLst>
                <a:path w="3619500" h="1587500">
                  <a:moveTo>
                    <a:pt x="62386" y="0"/>
                  </a:moveTo>
                  <a:lnTo>
                    <a:pt x="3557114" y="0"/>
                  </a:lnTo>
                  <a:cubicBezTo>
                    <a:pt x="3573660" y="0"/>
                    <a:pt x="3589528" y="6573"/>
                    <a:pt x="3601227" y="18272"/>
                  </a:cubicBezTo>
                  <a:cubicBezTo>
                    <a:pt x="3612927" y="29972"/>
                    <a:pt x="3619500" y="45840"/>
                    <a:pt x="3619500" y="62386"/>
                  </a:cubicBezTo>
                  <a:lnTo>
                    <a:pt x="3619500" y="1525114"/>
                  </a:lnTo>
                  <a:cubicBezTo>
                    <a:pt x="3619500" y="1541660"/>
                    <a:pt x="3612927" y="1557528"/>
                    <a:pt x="3601227" y="1569228"/>
                  </a:cubicBezTo>
                  <a:cubicBezTo>
                    <a:pt x="3589528" y="1580927"/>
                    <a:pt x="3573660" y="1587500"/>
                    <a:pt x="3557114" y="1587500"/>
                  </a:cubicBezTo>
                  <a:lnTo>
                    <a:pt x="62386" y="1587500"/>
                  </a:lnTo>
                  <a:cubicBezTo>
                    <a:pt x="45840" y="1587500"/>
                    <a:pt x="29972" y="1580927"/>
                    <a:pt x="18272" y="1569228"/>
                  </a:cubicBezTo>
                  <a:cubicBezTo>
                    <a:pt x="6573" y="1557528"/>
                    <a:pt x="0" y="1541660"/>
                    <a:pt x="0" y="1525114"/>
                  </a:cubicBezTo>
                  <a:lnTo>
                    <a:pt x="0" y="62386"/>
                  </a:lnTo>
                  <a:cubicBezTo>
                    <a:pt x="0" y="45840"/>
                    <a:pt x="6573" y="29972"/>
                    <a:pt x="18272" y="18272"/>
                  </a:cubicBezTo>
                  <a:cubicBezTo>
                    <a:pt x="29972" y="6573"/>
                    <a:pt x="45840" y="0"/>
                    <a:pt x="6238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28575"/>
              <a:ext cx="3619500" cy="1616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Question Hub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3811250" y="4953000"/>
            <a:ext cx="2714625" cy="1190625"/>
            <a:chOff x="0" y="0"/>
            <a:chExt cx="3619500" cy="15875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619500" cy="1587500"/>
            </a:xfrm>
            <a:custGeom>
              <a:avLst/>
              <a:gdLst/>
              <a:ahLst/>
              <a:cxnLst/>
              <a:rect l="l" t="t" r="r" b="b"/>
              <a:pathLst>
                <a:path w="3619500" h="1587500">
                  <a:moveTo>
                    <a:pt x="62386" y="0"/>
                  </a:moveTo>
                  <a:lnTo>
                    <a:pt x="3557114" y="0"/>
                  </a:lnTo>
                  <a:cubicBezTo>
                    <a:pt x="3573660" y="0"/>
                    <a:pt x="3589528" y="6573"/>
                    <a:pt x="3601227" y="18272"/>
                  </a:cubicBezTo>
                  <a:cubicBezTo>
                    <a:pt x="3612927" y="29972"/>
                    <a:pt x="3619500" y="45840"/>
                    <a:pt x="3619500" y="62386"/>
                  </a:cubicBezTo>
                  <a:lnTo>
                    <a:pt x="3619500" y="1525114"/>
                  </a:lnTo>
                  <a:cubicBezTo>
                    <a:pt x="3619500" y="1541660"/>
                    <a:pt x="3612927" y="1557528"/>
                    <a:pt x="3601227" y="1569228"/>
                  </a:cubicBezTo>
                  <a:cubicBezTo>
                    <a:pt x="3589528" y="1580927"/>
                    <a:pt x="3573660" y="1587500"/>
                    <a:pt x="3557114" y="1587500"/>
                  </a:cubicBezTo>
                  <a:lnTo>
                    <a:pt x="62386" y="1587500"/>
                  </a:lnTo>
                  <a:cubicBezTo>
                    <a:pt x="45840" y="1587500"/>
                    <a:pt x="29972" y="1580927"/>
                    <a:pt x="18272" y="1569228"/>
                  </a:cubicBezTo>
                  <a:cubicBezTo>
                    <a:pt x="6573" y="1557528"/>
                    <a:pt x="0" y="1541660"/>
                    <a:pt x="0" y="1525114"/>
                  </a:cubicBezTo>
                  <a:lnTo>
                    <a:pt x="0" y="62386"/>
                  </a:lnTo>
                  <a:cubicBezTo>
                    <a:pt x="0" y="45840"/>
                    <a:pt x="6573" y="29972"/>
                    <a:pt x="18272" y="18272"/>
                  </a:cubicBezTo>
                  <a:cubicBezTo>
                    <a:pt x="29972" y="6573"/>
                    <a:pt x="45840" y="0"/>
                    <a:pt x="6238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28575"/>
              <a:ext cx="3619500" cy="1616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Scheduler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238250" y="7048500"/>
            <a:ext cx="2714625" cy="1190625"/>
            <a:chOff x="0" y="0"/>
            <a:chExt cx="3619500" cy="15875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619500" cy="1587500"/>
            </a:xfrm>
            <a:custGeom>
              <a:avLst/>
              <a:gdLst/>
              <a:ahLst/>
              <a:cxnLst/>
              <a:rect l="l" t="t" r="r" b="b"/>
              <a:pathLst>
                <a:path w="3619500" h="1587500">
                  <a:moveTo>
                    <a:pt x="62386" y="0"/>
                  </a:moveTo>
                  <a:lnTo>
                    <a:pt x="3557114" y="0"/>
                  </a:lnTo>
                  <a:cubicBezTo>
                    <a:pt x="3573660" y="0"/>
                    <a:pt x="3589528" y="6573"/>
                    <a:pt x="3601227" y="18272"/>
                  </a:cubicBezTo>
                  <a:cubicBezTo>
                    <a:pt x="3612927" y="29972"/>
                    <a:pt x="3619500" y="45840"/>
                    <a:pt x="3619500" y="62386"/>
                  </a:cubicBezTo>
                  <a:lnTo>
                    <a:pt x="3619500" y="1525114"/>
                  </a:lnTo>
                  <a:cubicBezTo>
                    <a:pt x="3619500" y="1541660"/>
                    <a:pt x="3612927" y="1557528"/>
                    <a:pt x="3601227" y="1569228"/>
                  </a:cubicBezTo>
                  <a:cubicBezTo>
                    <a:pt x="3589528" y="1580927"/>
                    <a:pt x="3573660" y="1587500"/>
                    <a:pt x="3557114" y="1587500"/>
                  </a:cubicBezTo>
                  <a:lnTo>
                    <a:pt x="62386" y="1587500"/>
                  </a:lnTo>
                  <a:cubicBezTo>
                    <a:pt x="45840" y="1587500"/>
                    <a:pt x="29972" y="1580927"/>
                    <a:pt x="18272" y="1569228"/>
                  </a:cubicBezTo>
                  <a:cubicBezTo>
                    <a:pt x="6573" y="1557528"/>
                    <a:pt x="0" y="1541660"/>
                    <a:pt x="0" y="1525114"/>
                  </a:cubicBezTo>
                  <a:lnTo>
                    <a:pt x="0" y="62386"/>
                  </a:lnTo>
                  <a:cubicBezTo>
                    <a:pt x="0" y="45840"/>
                    <a:pt x="6573" y="29972"/>
                    <a:pt x="18272" y="18272"/>
                  </a:cubicBezTo>
                  <a:cubicBezTo>
                    <a:pt x="29972" y="6573"/>
                    <a:pt x="45840" y="0"/>
                    <a:pt x="6238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28575"/>
              <a:ext cx="3619500" cy="1616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XP + Leaderboard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381500" y="7048500"/>
            <a:ext cx="2714625" cy="1190625"/>
            <a:chOff x="0" y="0"/>
            <a:chExt cx="3619500" cy="15875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619500" cy="1587500"/>
            </a:xfrm>
            <a:custGeom>
              <a:avLst/>
              <a:gdLst/>
              <a:ahLst/>
              <a:cxnLst/>
              <a:rect l="l" t="t" r="r" b="b"/>
              <a:pathLst>
                <a:path w="3619500" h="1587500">
                  <a:moveTo>
                    <a:pt x="62386" y="0"/>
                  </a:moveTo>
                  <a:lnTo>
                    <a:pt x="3557114" y="0"/>
                  </a:lnTo>
                  <a:cubicBezTo>
                    <a:pt x="3573660" y="0"/>
                    <a:pt x="3589528" y="6573"/>
                    <a:pt x="3601227" y="18272"/>
                  </a:cubicBezTo>
                  <a:cubicBezTo>
                    <a:pt x="3612927" y="29972"/>
                    <a:pt x="3619500" y="45840"/>
                    <a:pt x="3619500" y="62386"/>
                  </a:cubicBezTo>
                  <a:lnTo>
                    <a:pt x="3619500" y="1525114"/>
                  </a:lnTo>
                  <a:cubicBezTo>
                    <a:pt x="3619500" y="1541660"/>
                    <a:pt x="3612927" y="1557528"/>
                    <a:pt x="3601227" y="1569228"/>
                  </a:cubicBezTo>
                  <a:cubicBezTo>
                    <a:pt x="3589528" y="1580927"/>
                    <a:pt x="3573660" y="1587500"/>
                    <a:pt x="3557114" y="1587500"/>
                  </a:cubicBezTo>
                  <a:lnTo>
                    <a:pt x="62386" y="1587500"/>
                  </a:lnTo>
                  <a:cubicBezTo>
                    <a:pt x="45840" y="1587500"/>
                    <a:pt x="29972" y="1580927"/>
                    <a:pt x="18272" y="1569228"/>
                  </a:cubicBezTo>
                  <a:cubicBezTo>
                    <a:pt x="6573" y="1557528"/>
                    <a:pt x="0" y="1541660"/>
                    <a:pt x="0" y="1525114"/>
                  </a:cubicBezTo>
                  <a:lnTo>
                    <a:pt x="0" y="62386"/>
                  </a:lnTo>
                  <a:cubicBezTo>
                    <a:pt x="0" y="45840"/>
                    <a:pt x="6573" y="29972"/>
                    <a:pt x="18272" y="18272"/>
                  </a:cubicBezTo>
                  <a:cubicBezTo>
                    <a:pt x="29972" y="6573"/>
                    <a:pt x="45840" y="0"/>
                    <a:pt x="6238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-28575"/>
              <a:ext cx="3619500" cy="1616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Performance Analytics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811250" y="7048500"/>
            <a:ext cx="2952750" cy="1190625"/>
            <a:chOff x="0" y="0"/>
            <a:chExt cx="3937000" cy="15875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937000" cy="1587500"/>
            </a:xfrm>
            <a:custGeom>
              <a:avLst/>
              <a:gdLst/>
              <a:ahLst/>
              <a:cxnLst/>
              <a:rect l="l" t="t" r="r" b="b"/>
              <a:pathLst>
                <a:path w="3937000" h="1587500">
                  <a:moveTo>
                    <a:pt x="57355" y="0"/>
                  </a:moveTo>
                  <a:lnTo>
                    <a:pt x="3879645" y="0"/>
                  </a:lnTo>
                  <a:cubicBezTo>
                    <a:pt x="3894856" y="0"/>
                    <a:pt x="3909445" y="6043"/>
                    <a:pt x="3920201" y="16799"/>
                  </a:cubicBezTo>
                  <a:cubicBezTo>
                    <a:pt x="3930957" y="27555"/>
                    <a:pt x="3937000" y="42143"/>
                    <a:pt x="3937000" y="57355"/>
                  </a:cubicBezTo>
                  <a:lnTo>
                    <a:pt x="3937000" y="1530145"/>
                  </a:lnTo>
                  <a:cubicBezTo>
                    <a:pt x="3937000" y="1545357"/>
                    <a:pt x="3930957" y="1559945"/>
                    <a:pt x="3920201" y="1570701"/>
                  </a:cubicBezTo>
                  <a:cubicBezTo>
                    <a:pt x="3909445" y="1581457"/>
                    <a:pt x="3894856" y="1587500"/>
                    <a:pt x="3879645" y="1587500"/>
                  </a:cubicBezTo>
                  <a:lnTo>
                    <a:pt x="57355" y="1587500"/>
                  </a:lnTo>
                  <a:cubicBezTo>
                    <a:pt x="42143" y="1587500"/>
                    <a:pt x="27555" y="1581457"/>
                    <a:pt x="16799" y="1570701"/>
                  </a:cubicBezTo>
                  <a:cubicBezTo>
                    <a:pt x="6043" y="1559945"/>
                    <a:pt x="0" y="1545357"/>
                    <a:pt x="0" y="1530145"/>
                  </a:cubicBezTo>
                  <a:lnTo>
                    <a:pt x="0" y="57355"/>
                  </a:lnTo>
                  <a:cubicBezTo>
                    <a:pt x="0" y="42143"/>
                    <a:pt x="6043" y="27555"/>
                    <a:pt x="16799" y="16799"/>
                  </a:cubicBezTo>
                  <a:cubicBezTo>
                    <a:pt x="27555" y="6043"/>
                    <a:pt x="42143" y="0"/>
                    <a:pt x="5735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0" y="-28575"/>
              <a:ext cx="3937000" cy="1616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Profile + Account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615065" y="4683235"/>
            <a:ext cx="6533994" cy="1730156"/>
            <a:chOff x="0" y="0"/>
            <a:chExt cx="6474869" cy="17145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474869" cy="1714500"/>
            </a:xfrm>
            <a:custGeom>
              <a:avLst/>
              <a:gdLst/>
              <a:ahLst/>
              <a:cxnLst/>
              <a:rect l="l" t="t" r="r" b="b"/>
              <a:pathLst>
                <a:path w="6474869" h="1714500">
                  <a:moveTo>
                    <a:pt x="25919" y="0"/>
                  </a:moveTo>
                  <a:lnTo>
                    <a:pt x="6448950" y="0"/>
                  </a:lnTo>
                  <a:cubicBezTo>
                    <a:pt x="6455824" y="0"/>
                    <a:pt x="6462417" y="2731"/>
                    <a:pt x="6467278" y="7591"/>
                  </a:cubicBezTo>
                  <a:cubicBezTo>
                    <a:pt x="6472138" y="12452"/>
                    <a:pt x="6474869" y="19045"/>
                    <a:pt x="6474869" y="25919"/>
                  </a:cubicBezTo>
                  <a:lnTo>
                    <a:pt x="6474869" y="1688581"/>
                  </a:lnTo>
                  <a:cubicBezTo>
                    <a:pt x="6474869" y="1695455"/>
                    <a:pt x="6472138" y="1702048"/>
                    <a:pt x="6467278" y="1706909"/>
                  </a:cubicBezTo>
                  <a:cubicBezTo>
                    <a:pt x="6462417" y="1711769"/>
                    <a:pt x="6455824" y="1714500"/>
                    <a:pt x="6448950" y="1714500"/>
                  </a:cubicBezTo>
                  <a:lnTo>
                    <a:pt x="25919" y="1714500"/>
                  </a:lnTo>
                  <a:cubicBezTo>
                    <a:pt x="19045" y="1714500"/>
                    <a:pt x="12452" y="1711769"/>
                    <a:pt x="7591" y="1706909"/>
                  </a:cubicBezTo>
                  <a:cubicBezTo>
                    <a:pt x="2731" y="1702048"/>
                    <a:pt x="0" y="1695455"/>
                    <a:pt x="0" y="1688581"/>
                  </a:cubicBezTo>
                  <a:lnTo>
                    <a:pt x="0" y="25919"/>
                  </a:lnTo>
                  <a:cubicBezTo>
                    <a:pt x="0" y="19045"/>
                    <a:pt x="2731" y="12452"/>
                    <a:pt x="7591" y="7591"/>
                  </a:cubicBezTo>
                  <a:cubicBezTo>
                    <a:pt x="12452" y="2731"/>
                    <a:pt x="19045" y="0"/>
                    <a:pt x="25919" y="0"/>
                  </a:cubicBezTo>
                  <a:close/>
                </a:path>
              </a:pathLst>
            </a:custGeom>
            <a:solidFill>
              <a:srgbClr val="07152F"/>
            </a:solidFill>
            <a:ln cap="sq">
              <a:noFill/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0" y="-28575"/>
              <a:ext cx="6474869" cy="1743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22D3E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INTERVIEWACE AI INTELLIGENCE CORE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495300"/>
            <a:ext cx="219075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146C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 / MODULE 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6300" y="895350"/>
            <a:ext cx="14287500" cy="557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1">
                <a:solidFill>
                  <a:srgbClr val="1020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Mock Interviews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6300" y="1457325"/>
            <a:ext cx="14763750" cy="28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Resume-aware sessions that adapt to target company, role and interview type.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18288000" cy="95250"/>
            <a:chOff x="0" y="0"/>
            <a:chExt cx="24384000" cy="127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27000"/>
            </a:xfrm>
            <a:custGeom>
              <a:avLst/>
              <a:gdLst/>
              <a:ahLst/>
              <a:cxnLst/>
              <a:rect l="l" t="t" r="r" b="b"/>
              <a:pathLst>
                <a:path w="24384000" h="127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146CFF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762750" y="2524125"/>
            <a:ext cx="10572750" cy="6667500"/>
            <a:chOff x="0" y="0"/>
            <a:chExt cx="14097000" cy="889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097000" cy="8890000"/>
            </a:xfrm>
            <a:custGeom>
              <a:avLst/>
              <a:gdLst/>
              <a:ahLst/>
              <a:cxnLst/>
              <a:rect l="l" t="t" r="r" b="b"/>
              <a:pathLst>
                <a:path w="14097000" h="8890000">
                  <a:moveTo>
                    <a:pt x="16018" y="0"/>
                  </a:moveTo>
                  <a:lnTo>
                    <a:pt x="14080982" y="0"/>
                  </a:lnTo>
                  <a:cubicBezTo>
                    <a:pt x="14085230" y="0"/>
                    <a:pt x="14089304" y="1688"/>
                    <a:pt x="14092309" y="4692"/>
                  </a:cubicBezTo>
                  <a:cubicBezTo>
                    <a:pt x="14095312" y="7696"/>
                    <a:pt x="14097000" y="11770"/>
                    <a:pt x="14097000" y="16018"/>
                  </a:cubicBezTo>
                  <a:lnTo>
                    <a:pt x="14097000" y="8873982"/>
                  </a:lnTo>
                  <a:cubicBezTo>
                    <a:pt x="14097000" y="8878230"/>
                    <a:pt x="14095312" y="8882304"/>
                    <a:pt x="14092309" y="8885309"/>
                  </a:cubicBezTo>
                  <a:cubicBezTo>
                    <a:pt x="14089304" y="8888313"/>
                    <a:pt x="14085230" y="8890000"/>
                    <a:pt x="14080982" y="8890000"/>
                  </a:cubicBezTo>
                  <a:lnTo>
                    <a:pt x="16018" y="8890000"/>
                  </a:lnTo>
                  <a:cubicBezTo>
                    <a:pt x="11770" y="8890000"/>
                    <a:pt x="7696" y="8888313"/>
                    <a:pt x="4692" y="8885309"/>
                  </a:cubicBezTo>
                  <a:cubicBezTo>
                    <a:pt x="1688" y="8882304"/>
                    <a:pt x="0" y="8878230"/>
                    <a:pt x="0" y="8873982"/>
                  </a:cubicBezTo>
                  <a:lnTo>
                    <a:pt x="0" y="16018"/>
                  </a:lnTo>
                  <a:cubicBezTo>
                    <a:pt x="0" y="11770"/>
                    <a:pt x="1688" y="7696"/>
                    <a:pt x="4692" y="4692"/>
                  </a:cubicBezTo>
                  <a:cubicBezTo>
                    <a:pt x="7696" y="1688"/>
                    <a:pt x="11770" y="0"/>
                    <a:pt x="16018" y="0"/>
                  </a:cubicBezTo>
                  <a:close/>
                </a:path>
              </a:pathLst>
            </a:custGeom>
            <a:solidFill>
              <a:srgbClr val="07152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7334250" y="3190875"/>
            <a:ext cx="6858000" cy="1714500"/>
            <a:chOff x="0" y="0"/>
            <a:chExt cx="9144000" cy="2286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144000" cy="2286000"/>
            </a:xfrm>
            <a:custGeom>
              <a:avLst/>
              <a:gdLst/>
              <a:ahLst/>
              <a:cxnLst/>
              <a:rect l="l" t="t" r="r" b="b"/>
              <a:pathLst>
                <a:path w="9144000" h="2286000">
                  <a:moveTo>
                    <a:pt x="24694" y="0"/>
                  </a:moveTo>
                  <a:lnTo>
                    <a:pt x="9119305" y="0"/>
                  </a:lnTo>
                  <a:cubicBezTo>
                    <a:pt x="9125855" y="0"/>
                    <a:pt x="9132136" y="2602"/>
                    <a:pt x="9136767" y="7233"/>
                  </a:cubicBezTo>
                  <a:cubicBezTo>
                    <a:pt x="9141399" y="11864"/>
                    <a:pt x="9144000" y="18145"/>
                    <a:pt x="9144000" y="24694"/>
                  </a:cubicBezTo>
                  <a:lnTo>
                    <a:pt x="9144000" y="2261306"/>
                  </a:lnTo>
                  <a:cubicBezTo>
                    <a:pt x="9144000" y="2267855"/>
                    <a:pt x="9141399" y="2274136"/>
                    <a:pt x="9136767" y="2278767"/>
                  </a:cubicBezTo>
                  <a:cubicBezTo>
                    <a:pt x="9132136" y="2283398"/>
                    <a:pt x="9125855" y="2286000"/>
                    <a:pt x="9119305" y="2286000"/>
                  </a:cubicBezTo>
                  <a:lnTo>
                    <a:pt x="24694" y="2286000"/>
                  </a:lnTo>
                  <a:cubicBezTo>
                    <a:pt x="18145" y="2286000"/>
                    <a:pt x="11864" y="2283398"/>
                    <a:pt x="7233" y="2278767"/>
                  </a:cubicBezTo>
                  <a:cubicBezTo>
                    <a:pt x="2602" y="2274136"/>
                    <a:pt x="0" y="2267855"/>
                    <a:pt x="0" y="2261306"/>
                  </a:cubicBezTo>
                  <a:lnTo>
                    <a:pt x="0" y="24694"/>
                  </a:lnTo>
                  <a:cubicBezTo>
                    <a:pt x="0" y="18145"/>
                    <a:pt x="2602" y="11864"/>
                    <a:pt x="7233" y="7233"/>
                  </a:cubicBezTo>
                  <a:cubicBezTo>
                    <a:pt x="11864" y="2602"/>
                    <a:pt x="18145" y="0"/>
                    <a:pt x="24694" y="0"/>
                  </a:cubicBezTo>
                  <a:close/>
                </a:path>
              </a:pathLst>
            </a:custGeom>
            <a:solidFill>
              <a:srgbClr val="102A55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9144000" cy="231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QUESTION 04 / 08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Explain event-loop concurrency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573250" y="3190875"/>
            <a:ext cx="2095500" cy="857250"/>
            <a:chOff x="0" y="0"/>
            <a:chExt cx="2794000" cy="1143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794000" cy="1143000"/>
            </a:xfrm>
            <a:custGeom>
              <a:avLst/>
              <a:gdLst/>
              <a:ahLst/>
              <a:cxnLst/>
              <a:rect l="l" t="t" r="r" b="b"/>
              <a:pathLst>
                <a:path w="2794000" h="1143000">
                  <a:moveTo>
                    <a:pt x="80818" y="0"/>
                  </a:moveTo>
                  <a:lnTo>
                    <a:pt x="2713182" y="0"/>
                  </a:lnTo>
                  <a:cubicBezTo>
                    <a:pt x="2734616" y="0"/>
                    <a:pt x="2755173" y="8515"/>
                    <a:pt x="2770329" y="23671"/>
                  </a:cubicBezTo>
                  <a:cubicBezTo>
                    <a:pt x="2785485" y="38827"/>
                    <a:pt x="2794000" y="59384"/>
                    <a:pt x="2794000" y="80818"/>
                  </a:cubicBezTo>
                  <a:lnTo>
                    <a:pt x="2794000" y="1062182"/>
                  </a:lnTo>
                  <a:cubicBezTo>
                    <a:pt x="2794000" y="1083616"/>
                    <a:pt x="2785485" y="1104173"/>
                    <a:pt x="2770329" y="1119329"/>
                  </a:cubicBezTo>
                  <a:cubicBezTo>
                    <a:pt x="2755173" y="1134485"/>
                    <a:pt x="2734616" y="1143000"/>
                    <a:pt x="2713182" y="1143000"/>
                  </a:cubicBezTo>
                  <a:lnTo>
                    <a:pt x="80818" y="1143000"/>
                  </a:lnTo>
                  <a:cubicBezTo>
                    <a:pt x="59384" y="1143000"/>
                    <a:pt x="38827" y="1134485"/>
                    <a:pt x="23671" y="1119329"/>
                  </a:cubicBezTo>
                  <a:cubicBezTo>
                    <a:pt x="8515" y="1104173"/>
                    <a:pt x="0" y="1083616"/>
                    <a:pt x="0" y="1062182"/>
                  </a:cubicBezTo>
                  <a:lnTo>
                    <a:pt x="0" y="80818"/>
                  </a:lnTo>
                  <a:cubicBezTo>
                    <a:pt x="0" y="59384"/>
                    <a:pt x="8515" y="38827"/>
                    <a:pt x="23671" y="23671"/>
                  </a:cubicBezTo>
                  <a:cubicBezTo>
                    <a:pt x="38827" y="8515"/>
                    <a:pt x="59384" y="0"/>
                    <a:pt x="80818" y="0"/>
                  </a:cubicBezTo>
                  <a:close/>
                </a:path>
              </a:pathLst>
            </a:custGeom>
            <a:solidFill>
              <a:srgbClr val="22D3EE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2794000" cy="1171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07152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08:42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334250" y="5238750"/>
            <a:ext cx="9334500" cy="2095500"/>
            <a:chOff x="0" y="0"/>
            <a:chExt cx="12446000" cy="2794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446000" cy="2794000"/>
            </a:xfrm>
            <a:custGeom>
              <a:avLst/>
              <a:gdLst/>
              <a:ahLst/>
              <a:cxnLst/>
              <a:rect l="l" t="t" r="r" b="b"/>
              <a:pathLst>
                <a:path w="12446000" h="2794000">
                  <a:moveTo>
                    <a:pt x="18143" y="0"/>
                  </a:moveTo>
                  <a:lnTo>
                    <a:pt x="12427857" y="0"/>
                  </a:lnTo>
                  <a:cubicBezTo>
                    <a:pt x="12437877" y="0"/>
                    <a:pt x="12446000" y="8123"/>
                    <a:pt x="12446000" y="18143"/>
                  </a:cubicBezTo>
                  <a:lnTo>
                    <a:pt x="12446000" y="2775857"/>
                  </a:lnTo>
                  <a:cubicBezTo>
                    <a:pt x="12446000" y="2785877"/>
                    <a:pt x="12437877" y="2794000"/>
                    <a:pt x="12427857" y="2794000"/>
                  </a:cubicBezTo>
                  <a:lnTo>
                    <a:pt x="18143" y="2794000"/>
                  </a:lnTo>
                  <a:cubicBezTo>
                    <a:pt x="8123" y="2794000"/>
                    <a:pt x="0" y="2785877"/>
                    <a:pt x="0" y="2775857"/>
                  </a:cubicBezTo>
                  <a:lnTo>
                    <a:pt x="0" y="18143"/>
                  </a:lnTo>
                  <a:cubicBezTo>
                    <a:pt x="0" y="8123"/>
                    <a:pt x="8123" y="0"/>
                    <a:pt x="1814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12446000" cy="2822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LIVE ANSWER WORKSPACE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Auto-save • progress • per-question timing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334250" y="7667625"/>
            <a:ext cx="9334500" cy="952500"/>
            <a:chOff x="0" y="0"/>
            <a:chExt cx="12446000" cy="1270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446000" cy="1270000"/>
            </a:xfrm>
            <a:custGeom>
              <a:avLst/>
              <a:gdLst/>
              <a:ahLst/>
              <a:cxnLst/>
              <a:rect l="l" t="t" r="r" b="b"/>
              <a:pathLst>
                <a:path w="12446000" h="1270000">
                  <a:moveTo>
                    <a:pt x="18143" y="0"/>
                  </a:moveTo>
                  <a:lnTo>
                    <a:pt x="12427857" y="0"/>
                  </a:lnTo>
                  <a:cubicBezTo>
                    <a:pt x="12437877" y="0"/>
                    <a:pt x="12446000" y="8123"/>
                    <a:pt x="12446000" y="18143"/>
                  </a:cubicBezTo>
                  <a:lnTo>
                    <a:pt x="12446000" y="1251857"/>
                  </a:lnTo>
                  <a:cubicBezTo>
                    <a:pt x="12446000" y="1261877"/>
                    <a:pt x="12437877" y="1270000"/>
                    <a:pt x="12427857" y="1270000"/>
                  </a:cubicBezTo>
                  <a:lnTo>
                    <a:pt x="18143" y="1270000"/>
                  </a:lnTo>
                  <a:cubicBezTo>
                    <a:pt x="8123" y="1270000"/>
                    <a:pt x="0" y="1261877"/>
                    <a:pt x="0" y="1251857"/>
                  </a:cubicBezTo>
                  <a:lnTo>
                    <a:pt x="0" y="18143"/>
                  </a:lnTo>
                  <a:cubicBezTo>
                    <a:pt x="0" y="8123"/>
                    <a:pt x="8123" y="0"/>
                    <a:pt x="18143" y="0"/>
                  </a:cubicBezTo>
                  <a:close/>
                </a:path>
              </a:pathLst>
            </a:custGeom>
            <a:solidFill>
              <a:srgbClr val="146CFF"/>
            </a:solidFill>
            <a:ln cap="sq">
              <a:noFill/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12446000" cy="1298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AI EVALUATION • Depth • Communication • Problem-solving • Model answer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876300" y="3076575"/>
            <a:ext cx="4953000" cy="353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</a:pPr>
            <a:r>
              <a:rPr lang="en-US" sz="2550" b="1">
                <a:solidFill>
                  <a:srgbClr val="1020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Technical + Behavioral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76300" y="3829050"/>
            <a:ext cx="4953000" cy="935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Google • Amazon • Meta • Microsoft • Stripe</a:t>
            </a: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SDE I • SDE II • Frontend • Backend • Full-Stack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76300" y="6019800"/>
            <a:ext cx="4953000" cy="929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250" b="1">
                <a:solidFill>
                  <a:srgbClr val="146C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Generate → review → edit → shuffle → interview → score (0–100)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495300"/>
            <a:ext cx="219075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146C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 / MODULE 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6300" y="895350"/>
            <a:ext cx="14287500" cy="557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1">
                <a:solidFill>
                  <a:srgbClr val="1020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Live Coding Interview Studio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6300" y="1457325"/>
            <a:ext cx="14763750" cy="28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A browser IDE where execution evidence and AI review meet.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18288000" cy="95250"/>
            <a:chOff x="0" y="0"/>
            <a:chExt cx="24384000" cy="127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27000"/>
            </a:xfrm>
            <a:custGeom>
              <a:avLst/>
              <a:gdLst/>
              <a:ahLst/>
              <a:cxnLst/>
              <a:rect l="l" t="t" r="r" b="b"/>
              <a:pathLst>
                <a:path w="24384000" h="127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146CFF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76300" y="2428875"/>
            <a:ext cx="16573500" cy="6667500"/>
            <a:chOff x="0" y="0"/>
            <a:chExt cx="22098000" cy="889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098000" cy="8890000"/>
            </a:xfrm>
            <a:custGeom>
              <a:avLst/>
              <a:gdLst/>
              <a:ahLst/>
              <a:cxnLst/>
              <a:rect l="l" t="t" r="r" b="b"/>
              <a:pathLst>
                <a:path w="22098000" h="8890000">
                  <a:moveTo>
                    <a:pt x="10218" y="0"/>
                  </a:moveTo>
                  <a:lnTo>
                    <a:pt x="22087782" y="0"/>
                  </a:lnTo>
                  <a:cubicBezTo>
                    <a:pt x="22090492" y="0"/>
                    <a:pt x="22093090" y="1077"/>
                    <a:pt x="22095006" y="2993"/>
                  </a:cubicBezTo>
                  <a:cubicBezTo>
                    <a:pt x="22096924" y="4909"/>
                    <a:pt x="22098000" y="7508"/>
                    <a:pt x="22098000" y="10218"/>
                  </a:cubicBezTo>
                  <a:lnTo>
                    <a:pt x="22098000" y="8879781"/>
                  </a:lnTo>
                  <a:cubicBezTo>
                    <a:pt x="22098000" y="8882492"/>
                    <a:pt x="22096924" y="8885091"/>
                    <a:pt x="22095006" y="8887007"/>
                  </a:cubicBezTo>
                  <a:cubicBezTo>
                    <a:pt x="22093090" y="8888923"/>
                    <a:pt x="22090492" y="8890000"/>
                    <a:pt x="22087782" y="8890000"/>
                  </a:cubicBezTo>
                  <a:lnTo>
                    <a:pt x="10218" y="8890000"/>
                  </a:lnTo>
                  <a:cubicBezTo>
                    <a:pt x="7508" y="8890000"/>
                    <a:pt x="4909" y="8888923"/>
                    <a:pt x="2993" y="8887007"/>
                  </a:cubicBezTo>
                  <a:cubicBezTo>
                    <a:pt x="1077" y="8885091"/>
                    <a:pt x="0" y="8882492"/>
                    <a:pt x="0" y="8879781"/>
                  </a:cubicBezTo>
                  <a:lnTo>
                    <a:pt x="0" y="10218"/>
                  </a:lnTo>
                  <a:cubicBezTo>
                    <a:pt x="0" y="7508"/>
                    <a:pt x="1077" y="4909"/>
                    <a:pt x="2993" y="2993"/>
                  </a:cubicBezTo>
                  <a:cubicBezTo>
                    <a:pt x="4909" y="1077"/>
                    <a:pt x="7508" y="0"/>
                    <a:pt x="10218" y="0"/>
                  </a:cubicBezTo>
                  <a:close/>
                </a:path>
              </a:pathLst>
            </a:custGeom>
            <a:solidFill>
              <a:srgbClr val="07152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333500" y="2733675"/>
            <a:ext cx="85725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144">
                <a:solidFill>
                  <a:srgbClr val="22D3E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JavaScript     Python     Java     C++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33500" y="3390900"/>
            <a:ext cx="8572500" cy="2742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D7E7FF"/>
                </a:solidFill>
                <a:latin typeface="Open Sans"/>
                <a:ea typeface="Open Sans"/>
                <a:cs typeface="Open Sans"/>
                <a:sym typeface="Open Sans"/>
              </a:rPr>
              <a:t>function twoSum(nums, target) {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D7E7FF"/>
                </a:solidFill>
                <a:latin typeface="Open Sans"/>
                <a:ea typeface="Open Sans"/>
                <a:cs typeface="Open Sans"/>
                <a:sym typeface="Open Sans"/>
              </a:rPr>
              <a:t>  const seen = new Map();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D7E7FF"/>
                </a:solidFill>
                <a:latin typeface="Open Sans"/>
                <a:ea typeface="Open Sans"/>
                <a:cs typeface="Open Sans"/>
                <a:sym typeface="Open Sans"/>
              </a:rPr>
              <a:t>  for (let i = 0; i &lt; nums.length; i++) {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D7E7FF"/>
                </a:solidFill>
                <a:latin typeface="Open Sans"/>
                <a:ea typeface="Open Sans"/>
                <a:cs typeface="Open Sans"/>
                <a:sym typeface="Open Sans"/>
              </a:rPr>
              <a:t>    const need = target - nums[i];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D7E7FF"/>
                </a:solidFill>
                <a:latin typeface="Open Sans"/>
                <a:ea typeface="Open Sans"/>
                <a:cs typeface="Open Sans"/>
                <a:sym typeface="Open Sans"/>
              </a:rPr>
              <a:t>    if (seen.has(need)) return [seen.get(need), i];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D7E7FF"/>
                </a:solidFill>
                <a:latin typeface="Open Sans"/>
                <a:ea typeface="Open Sans"/>
                <a:cs typeface="Open Sans"/>
                <a:sym typeface="Open Sans"/>
              </a:rPr>
              <a:t>    seen.set(nums[i], i);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D7E7FF"/>
                </a:solidFill>
                <a:latin typeface="Open Sans"/>
                <a:ea typeface="Open Sans"/>
                <a:cs typeface="Open Sans"/>
                <a:sym typeface="Open Sans"/>
              </a:rPr>
              <a:t>  }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D7E7FF"/>
                </a:solidFill>
                <a:latin typeface="Open Sans"/>
                <a:ea typeface="Open Sans"/>
                <a:cs typeface="Open Sans"/>
                <a:sym typeface="Open Sans"/>
              </a:rPr>
              <a:t>}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1334750" y="3333750"/>
            <a:ext cx="0" cy="0"/>
          </a:xfrm>
          <a:prstGeom prst="line">
            <a:avLst/>
          </a:prstGeom>
          <a:ln w="19050" cap="flat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12096750" y="3200400"/>
            <a:ext cx="4191000" cy="3428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AI CODE REVIEW</a:t>
            </a:r>
          </a:p>
          <a:p>
            <a:pPr algn="l">
              <a:lnSpc>
                <a:spcPts val="2733"/>
              </a:lnSpc>
            </a:pPr>
            <a:endParaRPr lang="en-US" sz="202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Time: O(n)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Space: O(n)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✓ Hidden tests passed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✓ Edge cases covered</a:t>
            </a:r>
          </a:p>
          <a:p>
            <a:pPr algn="l">
              <a:lnSpc>
                <a:spcPts val="2733"/>
              </a:lnSpc>
            </a:pPr>
            <a:endParaRPr lang="en-US" sz="202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Syntax highlighting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Auto-formatting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Execution time + memory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495300"/>
            <a:ext cx="219075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146C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06 / MODULE 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6300" y="895350"/>
            <a:ext cx="14287500" cy="557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1">
                <a:solidFill>
                  <a:srgbClr val="1020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Visual System Design Studio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6300" y="1457325"/>
            <a:ext cx="14763750" cy="28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Drag, connect and defend architecture choices under AI scalability review.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18288000" cy="95250"/>
            <a:chOff x="0" y="0"/>
            <a:chExt cx="24384000" cy="127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27000"/>
            </a:xfrm>
            <a:custGeom>
              <a:avLst/>
              <a:gdLst/>
              <a:ahLst/>
              <a:cxnLst/>
              <a:rect l="l" t="t" r="r" b="b"/>
              <a:pathLst>
                <a:path w="24384000" h="127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146CFF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76300" y="4000500"/>
            <a:ext cx="2381250" cy="1000125"/>
            <a:chOff x="0" y="0"/>
            <a:chExt cx="3175000" cy="13335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175000" cy="1333500"/>
            </a:xfrm>
            <a:custGeom>
              <a:avLst/>
              <a:gdLst/>
              <a:ahLst/>
              <a:cxnLst/>
              <a:rect l="l" t="t" r="r" b="b"/>
              <a:pathLst>
                <a:path w="3175000" h="1333500">
                  <a:moveTo>
                    <a:pt x="71120" y="0"/>
                  </a:moveTo>
                  <a:lnTo>
                    <a:pt x="3103880" y="0"/>
                  </a:lnTo>
                  <a:cubicBezTo>
                    <a:pt x="3143159" y="0"/>
                    <a:pt x="3175000" y="31842"/>
                    <a:pt x="3175000" y="71120"/>
                  </a:cubicBezTo>
                  <a:lnTo>
                    <a:pt x="3175000" y="1262380"/>
                  </a:lnTo>
                  <a:cubicBezTo>
                    <a:pt x="3175000" y="1301659"/>
                    <a:pt x="3143159" y="1333500"/>
                    <a:pt x="3103880" y="1333500"/>
                  </a:cubicBezTo>
                  <a:lnTo>
                    <a:pt x="71120" y="1333500"/>
                  </a:lnTo>
                  <a:cubicBezTo>
                    <a:pt x="31842" y="1333500"/>
                    <a:pt x="0" y="1301659"/>
                    <a:pt x="0" y="1262380"/>
                  </a:cubicBezTo>
                  <a:lnTo>
                    <a:pt x="0" y="71120"/>
                  </a:lnTo>
                  <a:cubicBezTo>
                    <a:pt x="0" y="31842"/>
                    <a:pt x="31842" y="0"/>
                    <a:pt x="7112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3175000" cy="1362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CDN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714750" y="4000500"/>
            <a:ext cx="2381250" cy="1000125"/>
            <a:chOff x="0" y="0"/>
            <a:chExt cx="3175000" cy="13335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175000" cy="1333500"/>
            </a:xfrm>
            <a:custGeom>
              <a:avLst/>
              <a:gdLst/>
              <a:ahLst/>
              <a:cxnLst/>
              <a:rect l="l" t="t" r="r" b="b"/>
              <a:pathLst>
                <a:path w="3175000" h="1333500">
                  <a:moveTo>
                    <a:pt x="71120" y="0"/>
                  </a:moveTo>
                  <a:lnTo>
                    <a:pt x="3103880" y="0"/>
                  </a:lnTo>
                  <a:cubicBezTo>
                    <a:pt x="3143159" y="0"/>
                    <a:pt x="3175000" y="31842"/>
                    <a:pt x="3175000" y="71120"/>
                  </a:cubicBezTo>
                  <a:lnTo>
                    <a:pt x="3175000" y="1262380"/>
                  </a:lnTo>
                  <a:cubicBezTo>
                    <a:pt x="3175000" y="1301659"/>
                    <a:pt x="3143159" y="1333500"/>
                    <a:pt x="3103880" y="1333500"/>
                  </a:cubicBezTo>
                  <a:lnTo>
                    <a:pt x="71120" y="1333500"/>
                  </a:lnTo>
                  <a:cubicBezTo>
                    <a:pt x="31842" y="1333500"/>
                    <a:pt x="0" y="1301659"/>
                    <a:pt x="0" y="1262380"/>
                  </a:cubicBezTo>
                  <a:lnTo>
                    <a:pt x="0" y="71120"/>
                  </a:lnTo>
                  <a:cubicBezTo>
                    <a:pt x="0" y="31842"/>
                    <a:pt x="31842" y="0"/>
                    <a:pt x="71120" y="0"/>
                  </a:cubicBezTo>
                  <a:close/>
                </a:path>
              </a:pathLst>
            </a:custGeom>
            <a:solidFill>
              <a:srgbClr val="146CFF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3175000" cy="1362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Load Balancer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 rot="-96142">
            <a:off x="6838568" y="3098136"/>
            <a:ext cx="2381250" cy="1000125"/>
            <a:chOff x="0" y="0"/>
            <a:chExt cx="3175000" cy="13335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175000" cy="1333500"/>
            </a:xfrm>
            <a:custGeom>
              <a:avLst/>
              <a:gdLst/>
              <a:ahLst/>
              <a:cxnLst/>
              <a:rect l="l" t="t" r="r" b="b"/>
              <a:pathLst>
                <a:path w="3175000" h="1333500">
                  <a:moveTo>
                    <a:pt x="71120" y="0"/>
                  </a:moveTo>
                  <a:lnTo>
                    <a:pt x="3103880" y="0"/>
                  </a:lnTo>
                  <a:cubicBezTo>
                    <a:pt x="3143159" y="0"/>
                    <a:pt x="3175000" y="31842"/>
                    <a:pt x="3175000" y="71120"/>
                  </a:cubicBezTo>
                  <a:lnTo>
                    <a:pt x="3175000" y="1262380"/>
                  </a:lnTo>
                  <a:cubicBezTo>
                    <a:pt x="3175000" y="1301659"/>
                    <a:pt x="3143159" y="1333500"/>
                    <a:pt x="3103880" y="1333500"/>
                  </a:cubicBezTo>
                  <a:lnTo>
                    <a:pt x="71120" y="1333500"/>
                  </a:lnTo>
                  <a:cubicBezTo>
                    <a:pt x="31842" y="1333500"/>
                    <a:pt x="0" y="1301659"/>
                    <a:pt x="0" y="1262380"/>
                  </a:cubicBezTo>
                  <a:lnTo>
                    <a:pt x="0" y="71120"/>
                  </a:lnTo>
                  <a:cubicBezTo>
                    <a:pt x="0" y="31842"/>
                    <a:pt x="31842" y="0"/>
                    <a:pt x="7112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3175000" cy="1362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Microservices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239250" y="5000625"/>
            <a:ext cx="2381250" cy="1000125"/>
            <a:chOff x="0" y="0"/>
            <a:chExt cx="3175000" cy="13335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175000" cy="1333500"/>
            </a:xfrm>
            <a:custGeom>
              <a:avLst/>
              <a:gdLst/>
              <a:ahLst/>
              <a:cxnLst/>
              <a:rect l="l" t="t" r="r" b="b"/>
              <a:pathLst>
                <a:path w="3175000" h="1333500">
                  <a:moveTo>
                    <a:pt x="71120" y="0"/>
                  </a:moveTo>
                  <a:lnTo>
                    <a:pt x="3103880" y="0"/>
                  </a:lnTo>
                  <a:cubicBezTo>
                    <a:pt x="3143159" y="0"/>
                    <a:pt x="3175000" y="31842"/>
                    <a:pt x="3175000" y="71120"/>
                  </a:cubicBezTo>
                  <a:lnTo>
                    <a:pt x="3175000" y="1262380"/>
                  </a:lnTo>
                  <a:cubicBezTo>
                    <a:pt x="3175000" y="1301659"/>
                    <a:pt x="3143159" y="1333500"/>
                    <a:pt x="3103880" y="1333500"/>
                  </a:cubicBezTo>
                  <a:lnTo>
                    <a:pt x="71120" y="1333500"/>
                  </a:lnTo>
                  <a:cubicBezTo>
                    <a:pt x="31842" y="1333500"/>
                    <a:pt x="0" y="1301659"/>
                    <a:pt x="0" y="1262380"/>
                  </a:cubicBezTo>
                  <a:lnTo>
                    <a:pt x="0" y="71120"/>
                  </a:lnTo>
                  <a:cubicBezTo>
                    <a:pt x="0" y="31842"/>
                    <a:pt x="31842" y="0"/>
                    <a:pt x="7112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3175000" cy="1362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Redis Cache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477625" y="3048000"/>
            <a:ext cx="2381250" cy="1000125"/>
            <a:chOff x="0" y="0"/>
            <a:chExt cx="3175000" cy="13335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175000" cy="1333500"/>
            </a:xfrm>
            <a:custGeom>
              <a:avLst/>
              <a:gdLst/>
              <a:ahLst/>
              <a:cxnLst/>
              <a:rect l="l" t="t" r="r" b="b"/>
              <a:pathLst>
                <a:path w="3175000" h="1333500">
                  <a:moveTo>
                    <a:pt x="71120" y="0"/>
                  </a:moveTo>
                  <a:lnTo>
                    <a:pt x="3103880" y="0"/>
                  </a:lnTo>
                  <a:cubicBezTo>
                    <a:pt x="3143159" y="0"/>
                    <a:pt x="3175000" y="31842"/>
                    <a:pt x="3175000" y="71120"/>
                  </a:cubicBezTo>
                  <a:lnTo>
                    <a:pt x="3175000" y="1262380"/>
                  </a:lnTo>
                  <a:cubicBezTo>
                    <a:pt x="3175000" y="1301659"/>
                    <a:pt x="3143159" y="1333500"/>
                    <a:pt x="3103880" y="1333500"/>
                  </a:cubicBezTo>
                  <a:lnTo>
                    <a:pt x="71120" y="1333500"/>
                  </a:lnTo>
                  <a:cubicBezTo>
                    <a:pt x="31842" y="1333500"/>
                    <a:pt x="0" y="1301659"/>
                    <a:pt x="0" y="1262380"/>
                  </a:cubicBezTo>
                  <a:lnTo>
                    <a:pt x="0" y="71120"/>
                  </a:lnTo>
                  <a:cubicBezTo>
                    <a:pt x="0" y="31842"/>
                    <a:pt x="31842" y="0"/>
                    <a:pt x="7112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3175000" cy="1362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Kafka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4026837" y="5000625"/>
            <a:ext cx="2381250" cy="1000125"/>
            <a:chOff x="0" y="0"/>
            <a:chExt cx="3175000" cy="13335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175000" cy="1333500"/>
            </a:xfrm>
            <a:custGeom>
              <a:avLst/>
              <a:gdLst/>
              <a:ahLst/>
              <a:cxnLst/>
              <a:rect l="l" t="t" r="r" b="b"/>
              <a:pathLst>
                <a:path w="3175000" h="1333500">
                  <a:moveTo>
                    <a:pt x="71120" y="0"/>
                  </a:moveTo>
                  <a:lnTo>
                    <a:pt x="3103880" y="0"/>
                  </a:lnTo>
                  <a:cubicBezTo>
                    <a:pt x="3143159" y="0"/>
                    <a:pt x="3175000" y="31842"/>
                    <a:pt x="3175000" y="71120"/>
                  </a:cubicBezTo>
                  <a:lnTo>
                    <a:pt x="3175000" y="1262380"/>
                  </a:lnTo>
                  <a:cubicBezTo>
                    <a:pt x="3175000" y="1301659"/>
                    <a:pt x="3143159" y="1333500"/>
                    <a:pt x="3103880" y="1333500"/>
                  </a:cubicBezTo>
                  <a:lnTo>
                    <a:pt x="71120" y="1333500"/>
                  </a:lnTo>
                  <a:cubicBezTo>
                    <a:pt x="31842" y="1333500"/>
                    <a:pt x="0" y="1301659"/>
                    <a:pt x="0" y="1262380"/>
                  </a:cubicBezTo>
                  <a:lnTo>
                    <a:pt x="0" y="71120"/>
                  </a:lnTo>
                  <a:cubicBezTo>
                    <a:pt x="0" y="31842"/>
                    <a:pt x="31842" y="0"/>
                    <a:pt x="7112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3175000" cy="1362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SQL / NoSQL</a:t>
              </a:r>
            </a:p>
          </p:txBody>
        </p:sp>
      </p:grpSp>
      <p:sp>
        <p:nvSpPr>
          <p:cNvPr id="26" name="AutoShape 26"/>
          <p:cNvSpPr/>
          <p:nvPr/>
        </p:nvSpPr>
        <p:spPr>
          <a:xfrm flipV="1">
            <a:off x="3291512" y="4495800"/>
            <a:ext cx="423238" cy="69822"/>
          </a:xfrm>
          <a:prstGeom prst="line">
            <a:avLst/>
          </a:prstGeom>
          <a:ln w="28575" cap="rnd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AutoShape 27"/>
          <p:cNvSpPr/>
          <p:nvPr/>
        </p:nvSpPr>
        <p:spPr>
          <a:xfrm flipV="1">
            <a:off x="6096000" y="3543300"/>
            <a:ext cx="762000" cy="952500"/>
          </a:xfrm>
          <a:prstGeom prst="line">
            <a:avLst/>
          </a:prstGeom>
          <a:ln w="28575" cap="rnd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AutoShape 28"/>
          <p:cNvSpPr/>
          <p:nvPr/>
        </p:nvSpPr>
        <p:spPr>
          <a:xfrm flipH="1" flipV="1">
            <a:off x="9219353" y="3564905"/>
            <a:ext cx="875148" cy="1359441"/>
          </a:xfrm>
          <a:prstGeom prst="line">
            <a:avLst/>
          </a:prstGeom>
          <a:ln w="28575" cap="rnd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AutoShape 29"/>
          <p:cNvSpPr/>
          <p:nvPr/>
        </p:nvSpPr>
        <p:spPr>
          <a:xfrm flipV="1">
            <a:off x="10918626" y="3548063"/>
            <a:ext cx="558999" cy="1312919"/>
          </a:xfrm>
          <a:prstGeom prst="line">
            <a:avLst/>
          </a:prstGeom>
          <a:ln w="28575" cap="rnd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AutoShape 30"/>
          <p:cNvSpPr/>
          <p:nvPr/>
        </p:nvSpPr>
        <p:spPr>
          <a:xfrm flipH="1" flipV="1">
            <a:off x="13868669" y="3558465"/>
            <a:ext cx="1494819" cy="1585035"/>
          </a:xfrm>
          <a:prstGeom prst="line">
            <a:avLst/>
          </a:prstGeom>
          <a:ln w="28575" cap="rnd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TextBox 31"/>
          <p:cNvSpPr txBox="1"/>
          <p:nvPr/>
        </p:nvSpPr>
        <p:spPr>
          <a:xfrm>
            <a:off x="1143000" y="7391400"/>
            <a:ext cx="8096250" cy="685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SCENARIOS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URL Shortener • Chat • Ride Sharing • Video Streaming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382500" y="7267575"/>
            <a:ext cx="4025587" cy="830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2025" b="1">
                <a:solidFill>
                  <a:srgbClr val="146C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SCALABILITY EVALUATOR</a:t>
            </a:r>
          </a:p>
          <a:p>
            <a:pPr algn="l">
              <a:lnSpc>
                <a:spcPts val="2187"/>
              </a:lnSpc>
            </a:pPr>
            <a:r>
              <a:rPr lang="en-US" sz="2025" b="1">
                <a:solidFill>
                  <a:srgbClr val="146C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Bottlenecks • caching</a:t>
            </a:r>
          </a:p>
          <a:p>
            <a:pPr algn="l">
              <a:lnSpc>
                <a:spcPts val="2187"/>
              </a:lnSpc>
            </a:pPr>
            <a:r>
              <a:rPr lang="en-US" sz="2025" b="1">
                <a:solidFill>
                  <a:srgbClr val="146C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• sharding • CAP trade-offs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495300"/>
            <a:ext cx="219075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146C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07 / MODULE 4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6300" y="895350"/>
            <a:ext cx="14287500" cy="557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1">
                <a:solidFill>
                  <a:srgbClr val="1020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Voice &amp; Video AI Interviews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6300" y="1457325"/>
            <a:ext cx="14763750" cy="28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Computer vision and speech signals turn presence into actionable coaching.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18288000" cy="95250"/>
            <a:chOff x="0" y="0"/>
            <a:chExt cx="24384000" cy="127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27000"/>
            </a:xfrm>
            <a:custGeom>
              <a:avLst/>
              <a:gdLst/>
              <a:ahLst/>
              <a:cxnLst/>
              <a:rect l="l" t="t" r="r" b="b"/>
              <a:pathLst>
                <a:path w="24384000" h="127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146CFF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876300" y="2571750"/>
            <a:ext cx="9906000" cy="6477000"/>
          </a:xfrm>
          <a:custGeom>
            <a:avLst/>
            <a:gdLst/>
            <a:ahLst/>
            <a:cxnLst/>
            <a:rect l="l" t="t" r="r" b="b"/>
            <a:pathLst>
              <a:path w="9906000" h="6477000">
                <a:moveTo>
                  <a:pt x="0" y="0"/>
                </a:moveTo>
                <a:lnTo>
                  <a:pt x="9906000" y="0"/>
                </a:lnTo>
                <a:lnTo>
                  <a:pt x="9906000" y="6477000"/>
                </a:lnTo>
                <a:lnTo>
                  <a:pt x="0" y="647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119" r="-8119"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>
            <a:off x="11239500" y="2571750"/>
            <a:ext cx="6096000" cy="6477000"/>
            <a:chOff x="0" y="0"/>
            <a:chExt cx="8128000" cy="8636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0" cy="8636000"/>
            </a:xfrm>
            <a:custGeom>
              <a:avLst/>
              <a:gdLst/>
              <a:ahLst/>
              <a:cxnLst/>
              <a:rect l="l" t="t" r="r" b="b"/>
              <a:pathLst>
                <a:path w="8128000" h="8636000">
                  <a:moveTo>
                    <a:pt x="27781" y="0"/>
                  </a:moveTo>
                  <a:lnTo>
                    <a:pt x="8100219" y="0"/>
                  </a:lnTo>
                  <a:cubicBezTo>
                    <a:pt x="8115562" y="0"/>
                    <a:pt x="8128000" y="12438"/>
                    <a:pt x="8128000" y="27781"/>
                  </a:cubicBezTo>
                  <a:lnTo>
                    <a:pt x="8128000" y="8608219"/>
                  </a:lnTo>
                  <a:cubicBezTo>
                    <a:pt x="8128000" y="8623562"/>
                    <a:pt x="8115562" y="8636000"/>
                    <a:pt x="8100219" y="8636000"/>
                  </a:cubicBezTo>
                  <a:lnTo>
                    <a:pt x="27781" y="8636000"/>
                  </a:lnTo>
                  <a:cubicBezTo>
                    <a:pt x="12438" y="8636000"/>
                    <a:pt x="0" y="8623562"/>
                    <a:pt x="0" y="8608219"/>
                  </a:cubicBezTo>
                  <a:lnTo>
                    <a:pt x="0" y="27781"/>
                  </a:lnTo>
                  <a:cubicBezTo>
                    <a:pt x="0" y="12438"/>
                    <a:pt x="12438" y="0"/>
                    <a:pt x="27781" y="0"/>
                  </a:cubicBezTo>
                  <a:close/>
                </a:path>
              </a:pathLst>
            </a:custGeom>
            <a:solidFill>
              <a:srgbClr val="07152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1906250" y="3105150"/>
            <a:ext cx="4762500" cy="4114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LIVE SIGNALS</a:t>
            </a:r>
          </a:p>
          <a:p>
            <a:pPr algn="l">
              <a:lnSpc>
                <a:spcPts val="2733"/>
              </a:lnSpc>
            </a:pPr>
            <a:endParaRPr lang="en-US" sz="202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Eye contact        82%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Confidence       High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Head posture     Stable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Cadence            132 wpm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Pause frequency  6/min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Filler words       3</a:t>
            </a:r>
          </a:p>
          <a:p>
            <a:pPr algn="l">
              <a:lnSpc>
                <a:spcPts val="2733"/>
              </a:lnSpc>
            </a:pPr>
            <a:endParaRPr lang="en-US" sz="202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TRANSCRIPT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“First, I would clarify the scale and consistency requirements…”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495300"/>
            <a:ext cx="219075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146C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08 / MODULE 5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6300" y="895350"/>
            <a:ext cx="14287500" cy="557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1">
                <a:solidFill>
                  <a:srgbClr val="1020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Resume Tools &amp; ATS Optimizer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6300" y="1457325"/>
            <a:ext cx="14763750" cy="28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Convert an unstructured document into evidence, fit and stronger outcomes.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18288000" cy="95250"/>
            <a:chOff x="0" y="0"/>
            <a:chExt cx="24384000" cy="127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27000"/>
            </a:xfrm>
            <a:custGeom>
              <a:avLst/>
              <a:gdLst/>
              <a:ahLst/>
              <a:cxnLst/>
              <a:rect l="l" t="t" r="r" b="b"/>
              <a:pathLst>
                <a:path w="24384000" h="127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146CFF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2500" y="3524250"/>
            <a:ext cx="2714625" cy="1428750"/>
            <a:chOff x="0" y="0"/>
            <a:chExt cx="3619500" cy="1905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619500" cy="1905000"/>
            </a:xfrm>
            <a:custGeom>
              <a:avLst/>
              <a:gdLst/>
              <a:ahLst/>
              <a:cxnLst/>
              <a:rect l="l" t="t" r="r" b="b"/>
              <a:pathLst>
                <a:path w="3619500" h="1905000">
                  <a:moveTo>
                    <a:pt x="62386" y="0"/>
                  </a:moveTo>
                  <a:lnTo>
                    <a:pt x="3557114" y="0"/>
                  </a:lnTo>
                  <a:cubicBezTo>
                    <a:pt x="3573660" y="0"/>
                    <a:pt x="3589528" y="6573"/>
                    <a:pt x="3601227" y="18272"/>
                  </a:cubicBezTo>
                  <a:cubicBezTo>
                    <a:pt x="3612927" y="29972"/>
                    <a:pt x="3619500" y="45840"/>
                    <a:pt x="3619500" y="62386"/>
                  </a:cubicBezTo>
                  <a:lnTo>
                    <a:pt x="3619500" y="1842614"/>
                  </a:lnTo>
                  <a:cubicBezTo>
                    <a:pt x="3619500" y="1859160"/>
                    <a:pt x="3612927" y="1875028"/>
                    <a:pt x="3601227" y="1886728"/>
                  </a:cubicBezTo>
                  <a:cubicBezTo>
                    <a:pt x="3589528" y="1898427"/>
                    <a:pt x="3573660" y="1905000"/>
                    <a:pt x="3557114" y="1905000"/>
                  </a:cubicBezTo>
                  <a:lnTo>
                    <a:pt x="62386" y="1905000"/>
                  </a:lnTo>
                  <a:cubicBezTo>
                    <a:pt x="45840" y="1905000"/>
                    <a:pt x="29972" y="1898427"/>
                    <a:pt x="18272" y="1886728"/>
                  </a:cubicBezTo>
                  <a:cubicBezTo>
                    <a:pt x="6573" y="1875028"/>
                    <a:pt x="0" y="1859160"/>
                    <a:pt x="0" y="1842614"/>
                  </a:cubicBezTo>
                  <a:lnTo>
                    <a:pt x="0" y="62386"/>
                  </a:lnTo>
                  <a:cubicBezTo>
                    <a:pt x="0" y="45840"/>
                    <a:pt x="6573" y="29972"/>
                    <a:pt x="18272" y="18272"/>
                  </a:cubicBezTo>
                  <a:cubicBezTo>
                    <a:pt x="29972" y="6573"/>
                    <a:pt x="45840" y="0"/>
                    <a:pt x="6238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3619500" cy="1933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RESUME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PDF / DOCX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3667125" y="4238625"/>
            <a:ext cx="619125" cy="0"/>
          </a:xfrm>
          <a:prstGeom prst="line">
            <a:avLst/>
          </a:prstGeom>
          <a:ln w="38100" cap="rnd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4381500" y="3524250"/>
            <a:ext cx="2714625" cy="1428750"/>
            <a:chOff x="0" y="0"/>
            <a:chExt cx="3619500" cy="1905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619500" cy="1905000"/>
            </a:xfrm>
            <a:custGeom>
              <a:avLst/>
              <a:gdLst/>
              <a:ahLst/>
              <a:cxnLst/>
              <a:rect l="l" t="t" r="r" b="b"/>
              <a:pathLst>
                <a:path w="3619500" h="1905000">
                  <a:moveTo>
                    <a:pt x="62386" y="0"/>
                  </a:moveTo>
                  <a:lnTo>
                    <a:pt x="3557114" y="0"/>
                  </a:lnTo>
                  <a:cubicBezTo>
                    <a:pt x="3573660" y="0"/>
                    <a:pt x="3589528" y="6573"/>
                    <a:pt x="3601227" y="18272"/>
                  </a:cubicBezTo>
                  <a:cubicBezTo>
                    <a:pt x="3612927" y="29972"/>
                    <a:pt x="3619500" y="45840"/>
                    <a:pt x="3619500" y="62386"/>
                  </a:cubicBezTo>
                  <a:lnTo>
                    <a:pt x="3619500" y="1842614"/>
                  </a:lnTo>
                  <a:cubicBezTo>
                    <a:pt x="3619500" y="1859160"/>
                    <a:pt x="3612927" y="1875028"/>
                    <a:pt x="3601227" y="1886728"/>
                  </a:cubicBezTo>
                  <a:cubicBezTo>
                    <a:pt x="3589528" y="1898427"/>
                    <a:pt x="3573660" y="1905000"/>
                    <a:pt x="3557114" y="1905000"/>
                  </a:cubicBezTo>
                  <a:lnTo>
                    <a:pt x="62386" y="1905000"/>
                  </a:lnTo>
                  <a:cubicBezTo>
                    <a:pt x="45840" y="1905000"/>
                    <a:pt x="29972" y="1898427"/>
                    <a:pt x="18272" y="1886728"/>
                  </a:cubicBezTo>
                  <a:cubicBezTo>
                    <a:pt x="6573" y="1875028"/>
                    <a:pt x="0" y="1859160"/>
                    <a:pt x="0" y="1842614"/>
                  </a:cubicBezTo>
                  <a:lnTo>
                    <a:pt x="0" y="62386"/>
                  </a:lnTo>
                  <a:cubicBezTo>
                    <a:pt x="0" y="45840"/>
                    <a:pt x="6573" y="29972"/>
                    <a:pt x="18272" y="18272"/>
                  </a:cubicBezTo>
                  <a:cubicBezTo>
                    <a:pt x="29972" y="6573"/>
                    <a:pt x="45840" y="0"/>
                    <a:pt x="6238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3619500" cy="1933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AI PARSING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7096125" y="4238625"/>
            <a:ext cx="619125" cy="0"/>
          </a:xfrm>
          <a:prstGeom prst="line">
            <a:avLst/>
          </a:prstGeom>
          <a:ln w="38100" cap="rnd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6" name="Group 16"/>
          <p:cNvGrpSpPr/>
          <p:nvPr/>
        </p:nvGrpSpPr>
        <p:grpSpPr>
          <a:xfrm>
            <a:off x="7810500" y="3524250"/>
            <a:ext cx="2714625" cy="1428750"/>
            <a:chOff x="0" y="0"/>
            <a:chExt cx="3619500" cy="1905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619500" cy="1905000"/>
            </a:xfrm>
            <a:custGeom>
              <a:avLst/>
              <a:gdLst/>
              <a:ahLst/>
              <a:cxnLst/>
              <a:rect l="l" t="t" r="r" b="b"/>
              <a:pathLst>
                <a:path w="3619500" h="1905000">
                  <a:moveTo>
                    <a:pt x="62386" y="0"/>
                  </a:moveTo>
                  <a:lnTo>
                    <a:pt x="3557114" y="0"/>
                  </a:lnTo>
                  <a:cubicBezTo>
                    <a:pt x="3573660" y="0"/>
                    <a:pt x="3589528" y="6573"/>
                    <a:pt x="3601227" y="18272"/>
                  </a:cubicBezTo>
                  <a:cubicBezTo>
                    <a:pt x="3612927" y="29972"/>
                    <a:pt x="3619500" y="45840"/>
                    <a:pt x="3619500" y="62386"/>
                  </a:cubicBezTo>
                  <a:lnTo>
                    <a:pt x="3619500" y="1842614"/>
                  </a:lnTo>
                  <a:cubicBezTo>
                    <a:pt x="3619500" y="1859160"/>
                    <a:pt x="3612927" y="1875028"/>
                    <a:pt x="3601227" y="1886728"/>
                  </a:cubicBezTo>
                  <a:cubicBezTo>
                    <a:pt x="3589528" y="1898427"/>
                    <a:pt x="3573660" y="1905000"/>
                    <a:pt x="3557114" y="1905000"/>
                  </a:cubicBezTo>
                  <a:lnTo>
                    <a:pt x="62386" y="1905000"/>
                  </a:lnTo>
                  <a:cubicBezTo>
                    <a:pt x="45840" y="1905000"/>
                    <a:pt x="29972" y="1898427"/>
                    <a:pt x="18272" y="1886728"/>
                  </a:cubicBezTo>
                  <a:cubicBezTo>
                    <a:pt x="6573" y="1875028"/>
                    <a:pt x="0" y="1859160"/>
                    <a:pt x="0" y="1842614"/>
                  </a:cubicBezTo>
                  <a:lnTo>
                    <a:pt x="0" y="62386"/>
                  </a:lnTo>
                  <a:cubicBezTo>
                    <a:pt x="0" y="45840"/>
                    <a:pt x="6573" y="29972"/>
                    <a:pt x="18272" y="18272"/>
                  </a:cubicBezTo>
                  <a:cubicBezTo>
                    <a:pt x="29972" y="6573"/>
                    <a:pt x="45840" y="0"/>
                    <a:pt x="6238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3619500" cy="1933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STRUCTURED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CANDIDATE DATA</a:t>
              </a:r>
            </a:p>
          </p:txBody>
        </p:sp>
      </p:grpSp>
      <p:sp>
        <p:nvSpPr>
          <p:cNvPr id="19" name="AutoShape 19"/>
          <p:cNvSpPr/>
          <p:nvPr/>
        </p:nvSpPr>
        <p:spPr>
          <a:xfrm>
            <a:off x="10525125" y="4238625"/>
            <a:ext cx="619125" cy="0"/>
          </a:xfrm>
          <a:prstGeom prst="line">
            <a:avLst/>
          </a:prstGeom>
          <a:ln w="38100" cap="rnd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0" name="Group 20"/>
          <p:cNvGrpSpPr/>
          <p:nvPr/>
        </p:nvGrpSpPr>
        <p:grpSpPr>
          <a:xfrm>
            <a:off x="11239500" y="3524250"/>
            <a:ext cx="2714625" cy="1428750"/>
            <a:chOff x="0" y="0"/>
            <a:chExt cx="3619500" cy="1905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619500" cy="1905000"/>
            </a:xfrm>
            <a:custGeom>
              <a:avLst/>
              <a:gdLst/>
              <a:ahLst/>
              <a:cxnLst/>
              <a:rect l="l" t="t" r="r" b="b"/>
              <a:pathLst>
                <a:path w="3619500" h="1905000">
                  <a:moveTo>
                    <a:pt x="62386" y="0"/>
                  </a:moveTo>
                  <a:lnTo>
                    <a:pt x="3557114" y="0"/>
                  </a:lnTo>
                  <a:cubicBezTo>
                    <a:pt x="3573660" y="0"/>
                    <a:pt x="3589528" y="6573"/>
                    <a:pt x="3601227" y="18272"/>
                  </a:cubicBezTo>
                  <a:cubicBezTo>
                    <a:pt x="3612927" y="29972"/>
                    <a:pt x="3619500" y="45840"/>
                    <a:pt x="3619500" y="62386"/>
                  </a:cubicBezTo>
                  <a:lnTo>
                    <a:pt x="3619500" y="1842614"/>
                  </a:lnTo>
                  <a:cubicBezTo>
                    <a:pt x="3619500" y="1859160"/>
                    <a:pt x="3612927" y="1875028"/>
                    <a:pt x="3601227" y="1886728"/>
                  </a:cubicBezTo>
                  <a:cubicBezTo>
                    <a:pt x="3589528" y="1898427"/>
                    <a:pt x="3573660" y="1905000"/>
                    <a:pt x="3557114" y="1905000"/>
                  </a:cubicBezTo>
                  <a:lnTo>
                    <a:pt x="62386" y="1905000"/>
                  </a:lnTo>
                  <a:cubicBezTo>
                    <a:pt x="45840" y="1905000"/>
                    <a:pt x="29972" y="1898427"/>
                    <a:pt x="18272" y="1886728"/>
                  </a:cubicBezTo>
                  <a:cubicBezTo>
                    <a:pt x="6573" y="1875028"/>
                    <a:pt x="0" y="1859160"/>
                    <a:pt x="0" y="1842614"/>
                  </a:cubicBezTo>
                  <a:lnTo>
                    <a:pt x="0" y="62386"/>
                  </a:lnTo>
                  <a:cubicBezTo>
                    <a:pt x="0" y="45840"/>
                    <a:pt x="6573" y="29972"/>
                    <a:pt x="18272" y="18272"/>
                  </a:cubicBezTo>
                  <a:cubicBezTo>
                    <a:pt x="29972" y="6573"/>
                    <a:pt x="45840" y="0"/>
                    <a:pt x="62386" y="0"/>
                  </a:cubicBezTo>
                  <a:close/>
                </a:path>
              </a:pathLst>
            </a:custGeom>
            <a:solidFill>
              <a:srgbClr val="146CFF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3619500" cy="1933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ATS ANALYSIS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0–100</a:t>
              </a:r>
            </a:p>
          </p:txBody>
        </p:sp>
      </p:grpSp>
      <p:sp>
        <p:nvSpPr>
          <p:cNvPr id="23" name="AutoShape 23"/>
          <p:cNvSpPr/>
          <p:nvPr/>
        </p:nvSpPr>
        <p:spPr>
          <a:xfrm>
            <a:off x="13954125" y="4238625"/>
            <a:ext cx="619125" cy="0"/>
          </a:xfrm>
          <a:prstGeom prst="line">
            <a:avLst/>
          </a:prstGeom>
          <a:ln w="38100" cap="rnd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4" name="Group 24"/>
          <p:cNvGrpSpPr/>
          <p:nvPr/>
        </p:nvGrpSpPr>
        <p:grpSpPr>
          <a:xfrm>
            <a:off x="14668500" y="3524250"/>
            <a:ext cx="2714625" cy="1428750"/>
            <a:chOff x="0" y="0"/>
            <a:chExt cx="3619500" cy="1905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619500" cy="1905000"/>
            </a:xfrm>
            <a:custGeom>
              <a:avLst/>
              <a:gdLst/>
              <a:ahLst/>
              <a:cxnLst/>
              <a:rect l="l" t="t" r="r" b="b"/>
              <a:pathLst>
                <a:path w="3619500" h="1905000">
                  <a:moveTo>
                    <a:pt x="62386" y="0"/>
                  </a:moveTo>
                  <a:lnTo>
                    <a:pt x="3557114" y="0"/>
                  </a:lnTo>
                  <a:cubicBezTo>
                    <a:pt x="3573660" y="0"/>
                    <a:pt x="3589528" y="6573"/>
                    <a:pt x="3601227" y="18272"/>
                  </a:cubicBezTo>
                  <a:cubicBezTo>
                    <a:pt x="3612927" y="29972"/>
                    <a:pt x="3619500" y="45840"/>
                    <a:pt x="3619500" y="62386"/>
                  </a:cubicBezTo>
                  <a:lnTo>
                    <a:pt x="3619500" y="1842614"/>
                  </a:lnTo>
                  <a:cubicBezTo>
                    <a:pt x="3619500" y="1859160"/>
                    <a:pt x="3612927" y="1875028"/>
                    <a:pt x="3601227" y="1886728"/>
                  </a:cubicBezTo>
                  <a:cubicBezTo>
                    <a:pt x="3589528" y="1898427"/>
                    <a:pt x="3573660" y="1905000"/>
                    <a:pt x="3557114" y="1905000"/>
                  </a:cubicBezTo>
                  <a:lnTo>
                    <a:pt x="62386" y="1905000"/>
                  </a:lnTo>
                  <a:cubicBezTo>
                    <a:pt x="45840" y="1905000"/>
                    <a:pt x="29972" y="1898427"/>
                    <a:pt x="18272" y="1886728"/>
                  </a:cubicBezTo>
                  <a:cubicBezTo>
                    <a:pt x="6573" y="1875028"/>
                    <a:pt x="0" y="1859160"/>
                    <a:pt x="0" y="1842614"/>
                  </a:cubicBezTo>
                  <a:lnTo>
                    <a:pt x="0" y="62386"/>
                  </a:lnTo>
                  <a:cubicBezTo>
                    <a:pt x="0" y="45840"/>
                    <a:pt x="6573" y="29972"/>
                    <a:pt x="18272" y="18272"/>
                  </a:cubicBezTo>
                  <a:cubicBezTo>
                    <a:pt x="29972" y="6573"/>
                    <a:pt x="45840" y="0"/>
                    <a:pt x="6238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28575"/>
              <a:ext cx="3619500" cy="1933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IMPROVEMENT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952500" y="5838825"/>
            <a:ext cx="7143750" cy="299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9"/>
              </a:lnSpc>
            </a:pPr>
            <a:r>
              <a:rPr lang="en-US" sz="2175" b="1">
                <a:solidFill>
                  <a:srgbClr val="1020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Extract skills • experience • projects • education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52500" y="6438900"/>
            <a:ext cx="8191500" cy="334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Section breakdown • missing keywords • editable extracted data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382250" y="6229350"/>
            <a:ext cx="6667500" cy="322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2400" b="1">
                <a:solidFill>
                  <a:srgbClr val="146C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[Action] + [Context] + [Measurable Result]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495300"/>
            <a:ext cx="219075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146C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09 / MODULES 6 + 7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6300" y="895350"/>
            <a:ext cx="14287500" cy="557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1">
                <a:solidFill>
                  <a:srgbClr val="1020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Write with fit. Coach with context.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6300" y="1457325"/>
            <a:ext cx="14763750" cy="28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Two generative workflows turn candidate evidence into persuasive communication and confident decisions.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18288000" cy="95250"/>
            <a:chOff x="0" y="0"/>
            <a:chExt cx="24384000" cy="127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27000"/>
            </a:xfrm>
            <a:custGeom>
              <a:avLst/>
              <a:gdLst/>
              <a:ahLst/>
              <a:cxnLst/>
              <a:rect l="l" t="t" r="r" b="b"/>
              <a:pathLst>
                <a:path w="24384000" h="127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146CFF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76300" y="2667000"/>
            <a:ext cx="7715250" cy="6477000"/>
            <a:chOff x="0" y="0"/>
            <a:chExt cx="10287000" cy="863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287000" cy="8636000"/>
            </a:xfrm>
            <a:custGeom>
              <a:avLst/>
              <a:gdLst/>
              <a:ahLst/>
              <a:cxnLst/>
              <a:rect l="l" t="t" r="r" b="b"/>
              <a:pathLst>
                <a:path w="10287000" h="8636000">
                  <a:moveTo>
                    <a:pt x="21951" y="0"/>
                  </a:moveTo>
                  <a:lnTo>
                    <a:pt x="10265049" y="0"/>
                  </a:lnTo>
                  <a:cubicBezTo>
                    <a:pt x="10270871" y="0"/>
                    <a:pt x="10276454" y="2313"/>
                    <a:pt x="10280571" y="6429"/>
                  </a:cubicBezTo>
                  <a:cubicBezTo>
                    <a:pt x="10284688" y="10546"/>
                    <a:pt x="10287000" y="16129"/>
                    <a:pt x="10287000" y="21951"/>
                  </a:cubicBezTo>
                  <a:lnTo>
                    <a:pt x="10287000" y="8614049"/>
                  </a:lnTo>
                  <a:cubicBezTo>
                    <a:pt x="10287000" y="8619871"/>
                    <a:pt x="10284688" y="8625454"/>
                    <a:pt x="10280571" y="8629571"/>
                  </a:cubicBezTo>
                  <a:cubicBezTo>
                    <a:pt x="10276454" y="8633688"/>
                    <a:pt x="10270871" y="8636000"/>
                    <a:pt x="10265049" y="8636000"/>
                  </a:cubicBezTo>
                  <a:lnTo>
                    <a:pt x="21951" y="8636000"/>
                  </a:lnTo>
                  <a:cubicBezTo>
                    <a:pt x="16129" y="8636000"/>
                    <a:pt x="10546" y="8633688"/>
                    <a:pt x="6429" y="8629571"/>
                  </a:cubicBezTo>
                  <a:cubicBezTo>
                    <a:pt x="2313" y="8625454"/>
                    <a:pt x="0" y="8619871"/>
                    <a:pt x="0" y="8614049"/>
                  </a:cubicBezTo>
                  <a:lnTo>
                    <a:pt x="0" y="21951"/>
                  </a:lnTo>
                  <a:cubicBezTo>
                    <a:pt x="0" y="16129"/>
                    <a:pt x="2313" y="10546"/>
                    <a:pt x="6429" y="6429"/>
                  </a:cubicBezTo>
                  <a:cubicBezTo>
                    <a:pt x="10546" y="2313"/>
                    <a:pt x="16129" y="0"/>
                    <a:pt x="2195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9620250" y="2667000"/>
            <a:ext cx="7715250" cy="6477000"/>
            <a:chOff x="0" y="0"/>
            <a:chExt cx="10287000" cy="8636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287000" cy="8636000"/>
            </a:xfrm>
            <a:custGeom>
              <a:avLst/>
              <a:gdLst/>
              <a:ahLst/>
              <a:cxnLst/>
              <a:rect l="l" t="t" r="r" b="b"/>
              <a:pathLst>
                <a:path w="10287000" h="8636000">
                  <a:moveTo>
                    <a:pt x="21951" y="0"/>
                  </a:moveTo>
                  <a:lnTo>
                    <a:pt x="10265049" y="0"/>
                  </a:lnTo>
                  <a:cubicBezTo>
                    <a:pt x="10270871" y="0"/>
                    <a:pt x="10276454" y="2313"/>
                    <a:pt x="10280571" y="6429"/>
                  </a:cubicBezTo>
                  <a:cubicBezTo>
                    <a:pt x="10284688" y="10546"/>
                    <a:pt x="10287000" y="16129"/>
                    <a:pt x="10287000" y="21951"/>
                  </a:cubicBezTo>
                  <a:lnTo>
                    <a:pt x="10287000" y="8614049"/>
                  </a:lnTo>
                  <a:cubicBezTo>
                    <a:pt x="10287000" y="8619871"/>
                    <a:pt x="10284688" y="8625454"/>
                    <a:pt x="10280571" y="8629571"/>
                  </a:cubicBezTo>
                  <a:cubicBezTo>
                    <a:pt x="10276454" y="8633688"/>
                    <a:pt x="10270871" y="8636000"/>
                    <a:pt x="10265049" y="8636000"/>
                  </a:cubicBezTo>
                  <a:lnTo>
                    <a:pt x="21951" y="8636000"/>
                  </a:lnTo>
                  <a:cubicBezTo>
                    <a:pt x="16129" y="8636000"/>
                    <a:pt x="10546" y="8633688"/>
                    <a:pt x="6429" y="8629571"/>
                  </a:cubicBezTo>
                  <a:cubicBezTo>
                    <a:pt x="2313" y="8625454"/>
                    <a:pt x="0" y="8619871"/>
                    <a:pt x="0" y="8614049"/>
                  </a:cubicBezTo>
                  <a:lnTo>
                    <a:pt x="0" y="21951"/>
                  </a:lnTo>
                  <a:cubicBezTo>
                    <a:pt x="0" y="16129"/>
                    <a:pt x="2313" y="10546"/>
                    <a:pt x="6429" y="6429"/>
                  </a:cubicBezTo>
                  <a:cubicBezTo>
                    <a:pt x="10546" y="2313"/>
                    <a:pt x="16129" y="0"/>
                    <a:pt x="21951" y="0"/>
                  </a:cubicBezTo>
                  <a:close/>
                </a:path>
              </a:pathLst>
            </a:custGeom>
            <a:solidFill>
              <a:srgbClr val="07152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428750" y="3095625"/>
            <a:ext cx="647700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1" spc="162">
                <a:solidFill>
                  <a:srgbClr val="146C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AI COVER LETTER GENERATOR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28750" y="3781425"/>
            <a:ext cx="6191250" cy="3450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Resume + pasted JD</a:t>
            </a:r>
          </a:p>
          <a:p>
            <a:pPr algn="l">
              <a:lnSpc>
                <a:spcPts val="2531"/>
              </a:lnSpc>
            </a:pPr>
            <a:endParaRPr lang="en-US" sz="1875">
              <a:solidFill>
                <a:srgbClr val="5F718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Tone</a:t>
            </a:r>
          </a:p>
          <a:p>
            <a:pPr marL="404812" lvl="1" indent="-202406" algn="l">
              <a:lnSpc>
                <a:spcPts val="2531"/>
              </a:lnSpc>
              <a:buFont typeface="Arial"/>
              <a:buChar char="•"/>
            </a:pPr>
            <a:r>
              <a:rPr lang="en-US" sz="1875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Professional • Confident • Enthusiastic • Technical</a:t>
            </a:r>
          </a:p>
          <a:p>
            <a:pPr marL="404812" lvl="1" indent="-202406" algn="l">
              <a:lnSpc>
                <a:spcPts val="2531"/>
              </a:lnSpc>
              <a:buFont typeface="Arial"/>
              <a:buChar char="•"/>
            </a:pPr>
            <a:r>
              <a:rPr lang="en-US" sz="1875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Creative</a:t>
            </a:r>
          </a:p>
          <a:p>
            <a:pPr algn="l">
              <a:lnSpc>
                <a:spcPts val="2531"/>
              </a:lnSpc>
            </a:pPr>
            <a:endParaRPr lang="en-US" sz="1875">
              <a:solidFill>
                <a:srgbClr val="5F718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Length</a:t>
            </a:r>
          </a:p>
          <a:p>
            <a:pPr marL="404812" lvl="1" indent="-202406" algn="l">
              <a:lnSpc>
                <a:spcPts val="2531"/>
              </a:lnSpc>
              <a:buFont typeface="Arial"/>
              <a:buChar char="•"/>
            </a:pPr>
            <a:r>
              <a:rPr lang="en-US" sz="1875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Short • Standard • Detailed</a:t>
            </a:r>
          </a:p>
          <a:p>
            <a:pPr algn="l">
              <a:lnSpc>
                <a:spcPts val="2531"/>
              </a:lnSpc>
            </a:pPr>
            <a:endParaRPr lang="en-US" sz="1875">
              <a:solidFill>
                <a:srgbClr val="5F718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Matched vs missing ATS keywords</a:t>
            </a: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1-click refinement • copy • library • PDF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191750" y="3095625"/>
            <a:ext cx="619125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1" spc="162">
                <a:solidFill>
                  <a:srgbClr val="22D3E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AI CAREER COACH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191750" y="3829050"/>
            <a:ext cx="6191250" cy="3764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YOU</a:t>
            </a: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How should I prepare for backend interviews?</a:t>
            </a:r>
          </a:p>
          <a:p>
            <a:pPr algn="l">
              <a:lnSpc>
                <a:spcPts val="2531"/>
              </a:lnSpc>
            </a:pPr>
            <a:endParaRPr lang="en-US" sz="187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COACH</a:t>
            </a: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Let’s build a four-week roadmap around APIs, databases and distributed systems.</a:t>
            </a:r>
          </a:p>
          <a:p>
            <a:pPr algn="l">
              <a:lnSpc>
                <a:spcPts val="2531"/>
              </a:lnSpc>
            </a:pPr>
            <a:endParaRPr lang="en-US" sz="187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Suggested next</a:t>
            </a:r>
          </a:p>
          <a:p>
            <a:pPr marL="404812" lvl="1" indent="-202406" algn="l">
              <a:lnSpc>
                <a:spcPts val="2531"/>
              </a:lnSpc>
              <a:buFont typeface="Arial"/>
              <a:buChar char="•"/>
            </a:pPr>
            <a:r>
              <a:rPr lang="en-US" sz="187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Project selection    •   STAR answers</a:t>
            </a:r>
          </a:p>
          <a:p>
            <a:pPr marL="404812" lvl="1" indent="-202406" algn="l">
              <a:lnSpc>
                <a:spcPts val="2531"/>
              </a:lnSpc>
              <a:buFont typeface="Arial"/>
              <a:buChar char="•"/>
            </a:pPr>
            <a:r>
              <a:rPr lang="en-US" sz="187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Salary negotiation  •   Study roadmap</a:t>
            </a:r>
          </a:p>
          <a:p>
            <a:pPr algn="l">
              <a:lnSpc>
                <a:spcPts val="2531"/>
              </a:lnSpc>
            </a:pPr>
            <a:endParaRPr lang="en-US" sz="187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Search • pin • filter • clear threads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495300"/>
            <a:ext cx="219075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146C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 / MODULE 8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6300" y="895350"/>
            <a:ext cx="14287500" cy="557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1">
                <a:solidFill>
                  <a:srgbClr val="1020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Personalised AI Learning Roadmap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6300" y="1457325"/>
            <a:ext cx="14763750" cy="28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Past interview weaknesses become a weekly plan with visible momentum.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18288000" cy="95250"/>
            <a:chOff x="0" y="0"/>
            <a:chExt cx="24384000" cy="127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27000"/>
            </a:xfrm>
            <a:custGeom>
              <a:avLst/>
              <a:gdLst/>
              <a:ahLst/>
              <a:cxnLst/>
              <a:rect l="l" t="t" r="r" b="b"/>
              <a:pathLst>
                <a:path w="24384000" h="127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146CFF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00125" y="3714750"/>
            <a:ext cx="3429000" cy="2190750"/>
            <a:chOff x="0" y="0"/>
            <a:chExt cx="4572000" cy="2921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572000" cy="2921000"/>
            </a:xfrm>
            <a:custGeom>
              <a:avLst/>
              <a:gdLst/>
              <a:ahLst/>
              <a:cxnLst/>
              <a:rect l="l" t="t" r="r" b="b"/>
              <a:pathLst>
                <a:path w="4572000" h="2921000">
                  <a:moveTo>
                    <a:pt x="49389" y="0"/>
                  </a:moveTo>
                  <a:lnTo>
                    <a:pt x="4522611" y="0"/>
                  </a:lnTo>
                  <a:cubicBezTo>
                    <a:pt x="4549888" y="0"/>
                    <a:pt x="4572000" y="22112"/>
                    <a:pt x="4572000" y="49389"/>
                  </a:cubicBezTo>
                  <a:lnTo>
                    <a:pt x="4572000" y="2871611"/>
                  </a:lnTo>
                  <a:cubicBezTo>
                    <a:pt x="4572000" y="2898888"/>
                    <a:pt x="4549888" y="2921000"/>
                    <a:pt x="4522611" y="2921000"/>
                  </a:cubicBezTo>
                  <a:lnTo>
                    <a:pt x="49389" y="2921000"/>
                  </a:lnTo>
                  <a:cubicBezTo>
                    <a:pt x="22112" y="2921000"/>
                    <a:pt x="0" y="2898888"/>
                    <a:pt x="0" y="2871611"/>
                  </a:cubicBezTo>
                  <a:lnTo>
                    <a:pt x="0" y="49389"/>
                  </a:lnTo>
                  <a:cubicBezTo>
                    <a:pt x="0" y="22112"/>
                    <a:pt x="22112" y="0"/>
                    <a:pt x="49389" y="0"/>
                  </a:cubicBezTo>
                  <a:close/>
                </a:path>
              </a:pathLst>
            </a:custGeom>
            <a:solidFill>
              <a:srgbClr val="146CFF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4572000" cy="2949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WEEK 1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Closures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 hours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4429125" y="4810125"/>
            <a:ext cx="809625" cy="1047750"/>
          </a:xfrm>
          <a:prstGeom prst="line">
            <a:avLst/>
          </a:prstGeom>
          <a:ln w="47625" cap="rnd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5238750" y="4762500"/>
            <a:ext cx="3429000" cy="2190750"/>
            <a:chOff x="0" y="0"/>
            <a:chExt cx="4572000" cy="2921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572000" cy="2921000"/>
            </a:xfrm>
            <a:custGeom>
              <a:avLst/>
              <a:gdLst/>
              <a:ahLst/>
              <a:cxnLst/>
              <a:rect l="l" t="t" r="r" b="b"/>
              <a:pathLst>
                <a:path w="4572000" h="2921000">
                  <a:moveTo>
                    <a:pt x="49389" y="0"/>
                  </a:moveTo>
                  <a:lnTo>
                    <a:pt x="4522611" y="0"/>
                  </a:lnTo>
                  <a:cubicBezTo>
                    <a:pt x="4549888" y="0"/>
                    <a:pt x="4572000" y="22112"/>
                    <a:pt x="4572000" y="49389"/>
                  </a:cubicBezTo>
                  <a:lnTo>
                    <a:pt x="4572000" y="2871611"/>
                  </a:lnTo>
                  <a:cubicBezTo>
                    <a:pt x="4572000" y="2898888"/>
                    <a:pt x="4549888" y="2921000"/>
                    <a:pt x="4522611" y="2921000"/>
                  </a:cubicBezTo>
                  <a:lnTo>
                    <a:pt x="49389" y="2921000"/>
                  </a:lnTo>
                  <a:cubicBezTo>
                    <a:pt x="22112" y="2921000"/>
                    <a:pt x="0" y="2898888"/>
                    <a:pt x="0" y="2871611"/>
                  </a:cubicBezTo>
                  <a:lnTo>
                    <a:pt x="0" y="49389"/>
                  </a:lnTo>
                  <a:cubicBezTo>
                    <a:pt x="0" y="22112"/>
                    <a:pt x="22112" y="0"/>
                    <a:pt x="49389" y="0"/>
                  </a:cubicBezTo>
                  <a:close/>
                </a:path>
              </a:pathLst>
            </a:custGeom>
            <a:solidFill>
              <a:srgbClr val="146CFF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4572000" cy="2949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WEEK 2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React Hooks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5 hours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 flipV="1">
            <a:off x="8667750" y="4810125"/>
            <a:ext cx="809625" cy="1047750"/>
          </a:xfrm>
          <a:prstGeom prst="line">
            <a:avLst/>
          </a:prstGeom>
          <a:ln w="47625" cap="rnd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6" name="Group 16"/>
          <p:cNvGrpSpPr/>
          <p:nvPr/>
        </p:nvGrpSpPr>
        <p:grpSpPr>
          <a:xfrm>
            <a:off x="9477375" y="3714750"/>
            <a:ext cx="3429000" cy="2190750"/>
            <a:chOff x="0" y="0"/>
            <a:chExt cx="4572000" cy="2921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572000" cy="2921000"/>
            </a:xfrm>
            <a:custGeom>
              <a:avLst/>
              <a:gdLst/>
              <a:ahLst/>
              <a:cxnLst/>
              <a:rect l="l" t="t" r="r" b="b"/>
              <a:pathLst>
                <a:path w="4572000" h="2921000">
                  <a:moveTo>
                    <a:pt x="49389" y="0"/>
                  </a:moveTo>
                  <a:lnTo>
                    <a:pt x="4522611" y="0"/>
                  </a:lnTo>
                  <a:cubicBezTo>
                    <a:pt x="4549888" y="0"/>
                    <a:pt x="4572000" y="22112"/>
                    <a:pt x="4572000" y="49389"/>
                  </a:cubicBezTo>
                  <a:lnTo>
                    <a:pt x="4572000" y="2871611"/>
                  </a:lnTo>
                  <a:cubicBezTo>
                    <a:pt x="4572000" y="2898888"/>
                    <a:pt x="4549888" y="2921000"/>
                    <a:pt x="4522611" y="2921000"/>
                  </a:cubicBezTo>
                  <a:lnTo>
                    <a:pt x="49389" y="2921000"/>
                  </a:lnTo>
                  <a:cubicBezTo>
                    <a:pt x="22112" y="2921000"/>
                    <a:pt x="0" y="2898888"/>
                    <a:pt x="0" y="2871611"/>
                  </a:cubicBezTo>
                  <a:lnTo>
                    <a:pt x="0" y="49389"/>
                  </a:lnTo>
                  <a:cubicBezTo>
                    <a:pt x="0" y="22112"/>
                    <a:pt x="22112" y="0"/>
                    <a:pt x="49389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4572000" cy="2949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WEEK 3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SQL Joins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3 hours</a:t>
              </a:r>
            </a:p>
          </p:txBody>
        </p:sp>
      </p:grpSp>
      <p:sp>
        <p:nvSpPr>
          <p:cNvPr id="19" name="AutoShape 19"/>
          <p:cNvSpPr/>
          <p:nvPr/>
        </p:nvSpPr>
        <p:spPr>
          <a:xfrm>
            <a:off x="12906375" y="4810125"/>
            <a:ext cx="809625" cy="1047750"/>
          </a:xfrm>
          <a:prstGeom prst="line">
            <a:avLst/>
          </a:prstGeom>
          <a:ln w="47625" cap="rnd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0" name="Group 20"/>
          <p:cNvGrpSpPr/>
          <p:nvPr/>
        </p:nvGrpSpPr>
        <p:grpSpPr>
          <a:xfrm>
            <a:off x="13716000" y="4762500"/>
            <a:ext cx="3429000" cy="2190750"/>
            <a:chOff x="0" y="0"/>
            <a:chExt cx="4572000" cy="2921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572000" cy="2921000"/>
            </a:xfrm>
            <a:custGeom>
              <a:avLst/>
              <a:gdLst/>
              <a:ahLst/>
              <a:cxnLst/>
              <a:rect l="l" t="t" r="r" b="b"/>
              <a:pathLst>
                <a:path w="4572000" h="2921000">
                  <a:moveTo>
                    <a:pt x="49389" y="0"/>
                  </a:moveTo>
                  <a:lnTo>
                    <a:pt x="4522611" y="0"/>
                  </a:lnTo>
                  <a:cubicBezTo>
                    <a:pt x="4549888" y="0"/>
                    <a:pt x="4572000" y="22112"/>
                    <a:pt x="4572000" y="49389"/>
                  </a:cubicBezTo>
                  <a:lnTo>
                    <a:pt x="4572000" y="2871611"/>
                  </a:lnTo>
                  <a:cubicBezTo>
                    <a:pt x="4572000" y="2898888"/>
                    <a:pt x="4549888" y="2921000"/>
                    <a:pt x="4522611" y="2921000"/>
                  </a:cubicBezTo>
                  <a:lnTo>
                    <a:pt x="49389" y="2921000"/>
                  </a:lnTo>
                  <a:cubicBezTo>
                    <a:pt x="22112" y="2921000"/>
                    <a:pt x="0" y="2898888"/>
                    <a:pt x="0" y="2871611"/>
                  </a:cubicBezTo>
                  <a:lnTo>
                    <a:pt x="0" y="49389"/>
                  </a:lnTo>
                  <a:cubicBezTo>
                    <a:pt x="0" y="22112"/>
                    <a:pt x="22112" y="0"/>
                    <a:pt x="49389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4572000" cy="2949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WEEK 4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Node.js Auth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6 hours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4476750" y="7858125"/>
            <a:ext cx="952500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1" spc="162">
                <a:solidFill>
                  <a:srgbClr val="146C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● COMPLETED      ◐ IN PROGRESS      ○ NOT STARTED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495300"/>
            <a:ext cx="219075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146C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11 / MODULES 9 + 10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6300" y="895350"/>
            <a:ext cx="14287500" cy="557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1">
                <a:solidFill>
                  <a:srgbClr val="1020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Practice on demand. Commit on calendar.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6300" y="1457325"/>
            <a:ext cx="14763750" cy="28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Content depth meets behavioural consistency.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18288000" cy="95250"/>
            <a:chOff x="0" y="0"/>
            <a:chExt cx="24384000" cy="127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27000"/>
            </a:xfrm>
            <a:custGeom>
              <a:avLst/>
              <a:gdLst/>
              <a:ahLst/>
              <a:cxnLst/>
              <a:rect l="l" t="t" r="r" b="b"/>
              <a:pathLst>
                <a:path w="24384000" h="127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146CFF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76300" y="2667000"/>
            <a:ext cx="7810500" cy="6477000"/>
            <a:chOff x="0" y="0"/>
            <a:chExt cx="10414000" cy="863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414000" cy="8636000"/>
            </a:xfrm>
            <a:custGeom>
              <a:avLst/>
              <a:gdLst/>
              <a:ahLst/>
              <a:cxnLst/>
              <a:rect l="l" t="t" r="r" b="b"/>
              <a:pathLst>
                <a:path w="10414000" h="8636000">
                  <a:moveTo>
                    <a:pt x="21683" y="0"/>
                  </a:moveTo>
                  <a:lnTo>
                    <a:pt x="10392317" y="0"/>
                  </a:lnTo>
                  <a:cubicBezTo>
                    <a:pt x="10398068" y="0"/>
                    <a:pt x="10403583" y="2284"/>
                    <a:pt x="10407649" y="6351"/>
                  </a:cubicBezTo>
                  <a:cubicBezTo>
                    <a:pt x="10411716" y="10417"/>
                    <a:pt x="10414000" y="15932"/>
                    <a:pt x="10414000" y="21683"/>
                  </a:cubicBezTo>
                  <a:lnTo>
                    <a:pt x="10414000" y="8614317"/>
                  </a:lnTo>
                  <a:cubicBezTo>
                    <a:pt x="10414000" y="8620068"/>
                    <a:pt x="10411716" y="8625583"/>
                    <a:pt x="10407649" y="8629649"/>
                  </a:cubicBezTo>
                  <a:cubicBezTo>
                    <a:pt x="10403583" y="8633716"/>
                    <a:pt x="10398068" y="8636000"/>
                    <a:pt x="10392317" y="8636000"/>
                  </a:cubicBezTo>
                  <a:lnTo>
                    <a:pt x="21683" y="8636000"/>
                  </a:lnTo>
                  <a:cubicBezTo>
                    <a:pt x="15932" y="8636000"/>
                    <a:pt x="10417" y="8633716"/>
                    <a:pt x="6351" y="8629649"/>
                  </a:cubicBezTo>
                  <a:cubicBezTo>
                    <a:pt x="2284" y="8625583"/>
                    <a:pt x="0" y="8620068"/>
                    <a:pt x="0" y="8614317"/>
                  </a:cubicBezTo>
                  <a:lnTo>
                    <a:pt x="0" y="21683"/>
                  </a:lnTo>
                  <a:cubicBezTo>
                    <a:pt x="0" y="15932"/>
                    <a:pt x="2284" y="10417"/>
                    <a:pt x="6351" y="6351"/>
                  </a:cubicBezTo>
                  <a:cubicBezTo>
                    <a:pt x="10417" y="2284"/>
                    <a:pt x="15932" y="0"/>
                    <a:pt x="2168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9620250" y="2667000"/>
            <a:ext cx="7810500" cy="6477000"/>
            <a:chOff x="0" y="0"/>
            <a:chExt cx="10414000" cy="8636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414000" cy="8636000"/>
            </a:xfrm>
            <a:custGeom>
              <a:avLst/>
              <a:gdLst/>
              <a:ahLst/>
              <a:cxnLst/>
              <a:rect l="l" t="t" r="r" b="b"/>
              <a:pathLst>
                <a:path w="10414000" h="8636000">
                  <a:moveTo>
                    <a:pt x="21683" y="0"/>
                  </a:moveTo>
                  <a:lnTo>
                    <a:pt x="10392317" y="0"/>
                  </a:lnTo>
                  <a:cubicBezTo>
                    <a:pt x="10398068" y="0"/>
                    <a:pt x="10403583" y="2284"/>
                    <a:pt x="10407649" y="6351"/>
                  </a:cubicBezTo>
                  <a:cubicBezTo>
                    <a:pt x="10411716" y="10417"/>
                    <a:pt x="10414000" y="15932"/>
                    <a:pt x="10414000" y="21683"/>
                  </a:cubicBezTo>
                  <a:lnTo>
                    <a:pt x="10414000" y="8614317"/>
                  </a:lnTo>
                  <a:cubicBezTo>
                    <a:pt x="10414000" y="8620068"/>
                    <a:pt x="10411716" y="8625583"/>
                    <a:pt x="10407649" y="8629649"/>
                  </a:cubicBezTo>
                  <a:cubicBezTo>
                    <a:pt x="10403583" y="8633716"/>
                    <a:pt x="10398068" y="8636000"/>
                    <a:pt x="10392317" y="8636000"/>
                  </a:cubicBezTo>
                  <a:lnTo>
                    <a:pt x="21683" y="8636000"/>
                  </a:lnTo>
                  <a:cubicBezTo>
                    <a:pt x="15932" y="8636000"/>
                    <a:pt x="10417" y="8633716"/>
                    <a:pt x="6351" y="8629649"/>
                  </a:cubicBezTo>
                  <a:cubicBezTo>
                    <a:pt x="2284" y="8625583"/>
                    <a:pt x="0" y="8620068"/>
                    <a:pt x="0" y="8614317"/>
                  </a:cubicBezTo>
                  <a:lnTo>
                    <a:pt x="0" y="21683"/>
                  </a:lnTo>
                  <a:cubicBezTo>
                    <a:pt x="0" y="15932"/>
                    <a:pt x="2284" y="10417"/>
                    <a:pt x="6351" y="6351"/>
                  </a:cubicBezTo>
                  <a:cubicBezTo>
                    <a:pt x="10417" y="2284"/>
                    <a:pt x="15932" y="0"/>
                    <a:pt x="2168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81125" y="3105150"/>
            <a:ext cx="6667500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 spc="168">
                <a:solidFill>
                  <a:srgbClr val="146C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PRACTICE QUESTION HUB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1125" y="3867150"/>
            <a:ext cx="6477000" cy="3085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DSA       Frontend       Backend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Databases       Behavioral</a:t>
            </a:r>
          </a:p>
          <a:p>
            <a:pPr algn="l">
              <a:lnSpc>
                <a:spcPts val="2733"/>
              </a:lnSpc>
            </a:pPr>
            <a:endParaRPr lang="en-US" sz="2025">
              <a:solidFill>
                <a:srgbClr val="5F718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Design an LRU cache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Explain React reconciliation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When did you resolve conflict?</a:t>
            </a:r>
          </a:p>
          <a:p>
            <a:pPr algn="l">
              <a:lnSpc>
                <a:spcPts val="2733"/>
              </a:lnSpc>
            </a:pPr>
            <a:endParaRPr lang="en-US" sz="2025">
              <a:solidFill>
                <a:srgbClr val="5F718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Instant AI explanations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Bookmarks library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144125" y="3105150"/>
            <a:ext cx="6667500" cy="926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 spc="168" dirty="0">
                <a:solidFill>
                  <a:srgbClr val="146C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INTERVIEW SCHEDULER</a:t>
            </a:r>
          </a:p>
          <a:p>
            <a:pPr algn="l">
              <a:lnSpc>
                <a:spcPct val="200000"/>
              </a:lnSpc>
            </a:pPr>
            <a:r>
              <a:rPr lang="en-US" sz="2100" b="1" spc="168" dirty="0">
                <a:latin typeface="Open Sans Bold"/>
                <a:ea typeface="Open Sans Bold"/>
                <a:cs typeface="Open Sans Bold"/>
                <a:sym typeface="Open Sans Bold"/>
              </a:rPr>
              <a:t>  October 2026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144125" y="5714556"/>
            <a:ext cx="6477000" cy="2750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endParaRPr lang="en-US" sz="2025" dirty="0">
              <a:solidFill>
                <a:srgbClr val="5F718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733"/>
              </a:lnSpc>
            </a:pPr>
            <a:r>
              <a:rPr lang="en-US" sz="2025" dirty="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UP NEXT </a:t>
            </a:r>
          </a:p>
          <a:p>
            <a:pPr marL="437197" lvl="1" indent="-218599" algn="l">
              <a:lnSpc>
                <a:spcPts val="2733"/>
              </a:lnSpc>
              <a:buFont typeface="Arial"/>
              <a:buChar char="•"/>
            </a:pPr>
            <a:r>
              <a:rPr lang="en-US" sz="2025" dirty="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Coding mock in 18h Commitment rate </a:t>
            </a:r>
          </a:p>
          <a:p>
            <a:pPr marL="437197" lvl="1" indent="-218599" algn="l">
              <a:lnSpc>
                <a:spcPts val="2733"/>
              </a:lnSpc>
              <a:buFont typeface="Arial"/>
              <a:buChar char="•"/>
            </a:pPr>
            <a:r>
              <a:rPr lang="en-US" sz="2025" dirty="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8 / 10 attended</a:t>
            </a:r>
          </a:p>
          <a:p>
            <a:pPr marL="437197" lvl="1" indent="-218599" algn="l">
              <a:lnSpc>
                <a:spcPts val="2733"/>
              </a:lnSpc>
              <a:buFont typeface="Arial"/>
              <a:buChar char="•"/>
            </a:pPr>
            <a:r>
              <a:rPr lang="en-US" sz="2025" dirty="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Export .</a:t>
            </a:r>
            <a:r>
              <a:rPr lang="en-US" sz="2025" dirty="0" err="1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ics</a:t>
            </a:r>
            <a:r>
              <a:rPr lang="en-US" sz="2025" dirty="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marL="437197" lvl="1" indent="-218599" algn="l">
              <a:lnSpc>
                <a:spcPts val="2733"/>
              </a:lnSpc>
              <a:buFont typeface="Arial"/>
              <a:buChar char="•"/>
            </a:pPr>
            <a:r>
              <a:rPr lang="en-US" sz="2025" dirty="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Google </a:t>
            </a:r>
          </a:p>
          <a:p>
            <a:pPr marL="437197" lvl="1" indent="-218599" algn="l">
              <a:lnSpc>
                <a:spcPts val="2733"/>
              </a:lnSpc>
              <a:buFont typeface="Arial"/>
              <a:buChar char="•"/>
            </a:pPr>
            <a:r>
              <a:rPr lang="en-US" sz="2025" dirty="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Outlook </a:t>
            </a:r>
          </a:p>
          <a:p>
            <a:pPr marL="437197" lvl="1" indent="-218599" algn="l">
              <a:lnSpc>
                <a:spcPts val="2733"/>
              </a:lnSpc>
              <a:buFont typeface="Arial"/>
              <a:buChar char="•"/>
            </a:pPr>
            <a:r>
              <a:rPr lang="en-US" sz="2025" dirty="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Apple</a:t>
            </a:r>
          </a:p>
        </p:txBody>
      </p:sp>
      <p:pic>
        <p:nvPicPr>
          <p:cNvPr id="18" name="Picture 17" descr="Download and print October Free Printable Calendar 2026 (Free PDF)">
            <a:extLst>
              <a:ext uri="{FF2B5EF4-FFF2-40B4-BE49-F238E27FC236}">
                <a16:creationId xmlns:a16="http://schemas.microsoft.com/office/drawing/2014/main" id="{46F23855-91FD-DDE6-64CA-148C4721FA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637" b="16191"/>
          <a:stretch>
            <a:fillRect/>
          </a:stretch>
        </p:blipFill>
        <p:spPr>
          <a:xfrm>
            <a:off x="10144125" y="4079428"/>
            <a:ext cx="2425536" cy="18138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495300"/>
            <a:ext cx="219075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146C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12 / MODULE 11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6300" y="895350"/>
            <a:ext cx="14287500" cy="557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1">
                <a:solidFill>
                  <a:srgbClr val="1020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Progress that feels visible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6300" y="1457325"/>
            <a:ext cx="14763750" cy="28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Every meaningful action compounds into identity, momentum and community standing.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18288000" cy="95250"/>
            <a:chOff x="0" y="0"/>
            <a:chExt cx="24384000" cy="127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27000"/>
            </a:xfrm>
            <a:custGeom>
              <a:avLst/>
              <a:gdLst/>
              <a:ahLst/>
              <a:cxnLst/>
              <a:rect l="l" t="t" r="r" b="b"/>
              <a:pathLst>
                <a:path w="24384000" h="127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146CFF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09625" y="3143250"/>
            <a:ext cx="2381250" cy="1143000"/>
            <a:chOff x="0" y="0"/>
            <a:chExt cx="3175000" cy="1524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175000" cy="1524000"/>
            </a:xfrm>
            <a:custGeom>
              <a:avLst/>
              <a:gdLst/>
              <a:ahLst/>
              <a:cxnLst/>
              <a:rect l="l" t="t" r="r" b="b"/>
              <a:pathLst>
                <a:path w="3175000" h="1524000">
                  <a:moveTo>
                    <a:pt x="71120" y="0"/>
                  </a:moveTo>
                  <a:lnTo>
                    <a:pt x="3103880" y="0"/>
                  </a:lnTo>
                  <a:cubicBezTo>
                    <a:pt x="3143159" y="0"/>
                    <a:pt x="3175000" y="31842"/>
                    <a:pt x="3175000" y="71120"/>
                  </a:cubicBezTo>
                  <a:lnTo>
                    <a:pt x="3175000" y="1452880"/>
                  </a:lnTo>
                  <a:cubicBezTo>
                    <a:pt x="3175000" y="1492159"/>
                    <a:pt x="3143159" y="1524000"/>
                    <a:pt x="3103880" y="1524000"/>
                  </a:cubicBezTo>
                  <a:lnTo>
                    <a:pt x="71120" y="1524000"/>
                  </a:lnTo>
                  <a:cubicBezTo>
                    <a:pt x="31842" y="1524000"/>
                    <a:pt x="0" y="1492159"/>
                    <a:pt x="0" y="1452880"/>
                  </a:cubicBezTo>
                  <a:lnTo>
                    <a:pt x="0" y="71120"/>
                  </a:lnTo>
                  <a:cubicBezTo>
                    <a:pt x="0" y="31842"/>
                    <a:pt x="31842" y="0"/>
                    <a:pt x="7112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3175000" cy="1552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PRACTICE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714750" y="3143250"/>
            <a:ext cx="2381250" cy="1143000"/>
            <a:chOff x="0" y="0"/>
            <a:chExt cx="3175000" cy="1524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175000" cy="1524000"/>
            </a:xfrm>
            <a:custGeom>
              <a:avLst/>
              <a:gdLst/>
              <a:ahLst/>
              <a:cxnLst/>
              <a:rect l="l" t="t" r="r" b="b"/>
              <a:pathLst>
                <a:path w="3175000" h="1524000">
                  <a:moveTo>
                    <a:pt x="71120" y="0"/>
                  </a:moveTo>
                  <a:lnTo>
                    <a:pt x="3103880" y="0"/>
                  </a:lnTo>
                  <a:cubicBezTo>
                    <a:pt x="3143159" y="0"/>
                    <a:pt x="3175000" y="31842"/>
                    <a:pt x="3175000" y="71120"/>
                  </a:cubicBezTo>
                  <a:lnTo>
                    <a:pt x="3175000" y="1452880"/>
                  </a:lnTo>
                  <a:cubicBezTo>
                    <a:pt x="3175000" y="1492159"/>
                    <a:pt x="3143159" y="1524000"/>
                    <a:pt x="3103880" y="1524000"/>
                  </a:cubicBezTo>
                  <a:lnTo>
                    <a:pt x="71120" y="1524000"/>
                  </a:lnTo>
                  <a:cubicBezTo>
                    <a:pt x="31842" y="1524000"/>
                    <a:pt x="0" y="1492159"/>
                    <a:pt x="0" y="1452880"/>
                  </a:cubicBezTo>
                  <a:lnTo>
                    <a:pt x="0" y="71120"/>
                  </a:lnTo>
                  <a:cubicBezTo>
                    <a:pt x="0" y="31842"/>
                    <a:pt x="31842" y="0"/>
                    <a:pt x="71120" y="0"/>
                  </a:cubicBezTo>
                  <a:close/>
                </a:path>
              </a:pathLst>
            </a:custGeom>
            <a:solidFill>
              <a:srgbClr val="146CFF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3175000" cy="1552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XP POINTS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19875" y="3143250"/>
            <a:ext cx="2381250" cy="1143000"/>
            <a:chOff x="0" y="0"/>
            <a:chExt cx="3175000" cy="1524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175000" cy="1524000"/>
            </a:xfrm>
            <a:custGeom>
              <a:avLst/>
              <a:gdLst/>
              <a:ahLst/>
              <a:cxnLst/>
              <a:rect l="l" t="t" r="r" b="b"/>
              <a:pathLst>
                <a:path w="3175000" h="1524000">
                  <a:moveTo>
                    <a:pt x="71120" y="0"/>
                  </a:moveTo>
                  <a:lnTo>
                    <a:pt x="3103880" y="0"/>
                  </a:lnTo>
                  <a:cubicBezTo>
                    <a:pt x="3143159" y="0"/>
                    <a:pt x="3175000" y="31842"/>
                    <a:pt x="3175000" y="71120"/>
                  </a:cubicBezTo>
                  <a:lnTo>
                    <a:pt x="3175000" y="1452880"/>
                  </a:lnTo>
                  <a:cubicBezTo>
                    <a:pt x="3175000" y="1492159"/>
                    <a:pt x="3143159" y="1524000"/>
                    <a:pt x="3103880" y="1524000"/>
                  </a:cubicBezTo>
                  <a:lnTo>
                    <a:pt x="71120" y="1524000"/>
                  </a:lnTo>
                  <a:cubicBezTo>
                    <a:pt x="31842" y="1524000"/>
                    <a:pt x="0" y="1492159"/>
                    <a:pt x="0" y="1452880"/>
                  </a:cubicBezTo>
                  <a:lnTo>
                    <a:pt x="0" y="71120"/>
                  </a:lnTo>
                  <a:cubicBezTo>
                    <a:pt x="0" y="31842"/>
                    <a:pt x="31842" y="0"/>
                    <a:pt x="7112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3175000" cy="1552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STREAKS ×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25000" y="3143250"/>
            <a:ext cx="2381250" cy="1143000"/>
            <a:chOff x="0" y="0"/>
            <a:chExt cx="3175000" cy="1524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175000" cy="1524000"/>
            </a:xfrm>
            <a:custGeom>
              <a:avLst/>
              <a:gdLst/>
              <a:ahLst/>
              <a:cxnLst/>
              <a:rect l="l" t="t" r="r" b="b"/>
              <a:pathLst>
                <a:path w="3175000" h="1524000">
                  <a:moveTo>
                    <a:pt x="71120" y="0"/>
                  </a:moveTo>
                  <a:lnTo>
                    <a:pt x="3103880" y="0"/>
                  </a:lnTo>
                  <a:cubicBezTo>
                    <a:pt x="3143159" y="0"/>
                    <a:pt x="3175000" y="31842"/>
                    <a:pt x="3175000" y="71120"/>
                  </a:cubicBezTo>
                  <a:lnTo>
                    <a:pt x="3175000" y="1452880"/>
                  </a:lnTo>
                  <a:cubicBezTo>
                    <a:pt x="3175000" y="1492159"/>
                    <a:pt x="3143159" y="1524000"/>
                    <a:pt x="3103880" y="1524000"/>
                  </a:cubicBezTo>
                  <a:lnTo>
                    <a:pt x="71120" y="1524000"/>
                  </a:lnTo>
                  <a:cubicBezTo>
                    <a:pt x="31842" y="1524000"/>
                    <a:pt x="0" y="1492159"/>
                    <a:pt x="0" y="1452880"/>
                  </a:cubicBezTo>
                  <a:lnTo>
                    <a:pt x="0" y="71120"/>
                  </a:lnTo>
                  <a:cubicBezTo>
                    <a:pt x="0" y="31842"/>
                    <a:pt x="31842" y="0"/>
                    <a:pt x="7112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3175000" cy="1552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SKILL LEVEL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430125" y="3143250"/>
            <a:ext cx="2381250" cy="1143000"/>
            <a:chOff x="0" y="0"/>
            <a:chExt cx="3175000" cy="1524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175000" cy="1524000"/>
            </a:xfrm>
            <a:custGeom>
              <a:avLst/>
              <a:gdLst/>
              <a:ahLst/>
              <a:cxnLst/>
              <a:rect l="l" t="t" r="r" b="b"/>
              <a:pathLst>
                <a:path w="3175000" h="1524000">
                  <a:moveTo>
                    <a:pt x="71120" y="0"/>
                  </a:moveTo>
                  <a:lnTo>
                    <a:pt x="3103880" y="0"/>
                  </a:lnTo>
                  <a:cubicBezTo>
                    <a:pt x="3143159" y="0"/>
                    <a:pt x="3175000" y="31842"/>
                    <a:pt x="3175000" y="71120"/>
                  </a:cubicBezTo>
                  <a:lnTo>
                    <a:pt x="3175000" y="1452880"/>
                  </a:lnTo>
                  <a:cubicBezTo>
                    <a:pt x="3175000" y="1492159"/>
                    <a:pt x="3143159" y="1524000"/>
                    <a:pt x="3103880" y="1524000"/>
                  </a:cubicBezTo>
                  <a:lnTo>
                    <a:pt x="71120" y="1524000"/>
                  </a:lnTo>
                  <a:cubicBezTo>
                    <a:pt x="31842" y="1524000"/>
                    <a:pt x="0" y="1492159"/>
                    <a:pt x="0" y="1452880"/>
                  </a:cubicBezTo>
                  <a:lnTo>
                    <a:pt x="0" y="71120"/>
                  </a:lnTo>
                  <a:cubicBezTo>
                    <a:pt x="0" y="31842"/>
                    <a:pt x="31842" y="0"/>
                    <a:pt x="7112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3175000" cy="1552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BADGES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5335250" y="3143250"/>
            <a:ext cx="2381250" cy="1143000"/>
            <a:chOff x="0" y="0"/>
            <a:chExt cx="3175000" cy="1524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175000" cy="1524000"/>
            </a:xfrm>
            <a:custGeom>
              <a:avLst/>
              <a:gdLst/>
              <a:ahLst/>
              <a:cxnLst/>
              <a:rect l="l" t="t" r="r" b="b"/>
              <a:pathLst>
                <a:path w="3175000" h="1524000">
                  <a:moveTo>
                    <a:pt x="71120" y="0"/>
                  </a:moveTo>
                  <a:lnTo>
                    <a:pt x="3103880" y="0"/>
                  </a:lnTo>
                  <a:cubicBezTo>
                    <a:pt x="3143159" y="0"/>
                    <a:pt x="3175000" y="31842"/>
                    <a:pt x="3175000" y="71120"/>
                  </a:cubicBezTo>
                  <a:lnTo>
                    <a:pt x="3175000" y="1452880"/>
                  </a:lnTo>
                  <a:cubicBezTo>
                    <a:pt x="3175000" y="1492159"/>
                    <a:pt x="3143159" y="1524000"/>
                    <a:pt x="3103880" y="1524000"/>
                  </a:cubicBezTo>
                  <a:lnTo>
                    <a:pt x="71120" y="1524000"/>
                  </a:lnTo>
                  <a:cubicBezTo>
                    <a:pt x="31842" y="1524000"/>
                    <a:pt x="0" y="1492159"/>
                    <a:pt x="0" y="1452880"/>
                  </a:cubicBezTo>
                  <a:lnTo>
                    <a:pt x="0" y="71120"/>
                  </a:lnTo>
                  <a:cubicBezTo>
                    <a:pt x="0" y="31842"/>
                    <a:pt x="31842" y="0"/>
                    <a:pt x="71120" y="0"/>
                  </a:cubicBezTo>
                  <a:close/>
                </a:path>
              </a:pathLst>
            </a:custGeom>
            <a:solidFill>
              <a:srgbClr val="146CFF"/>
            </a:solidFill>
            <a:ln cap="sq">
              <a:noFill/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3175000" cy="1552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LEADERBOARD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381125" y="5257800"/>
            <a:ext cx="15525750" cy="320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250" b="1">
                <a:solidFill>
                  <a:srgbClr val="146C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NOVICE  →  JUNIOR DEV  →  FULL-STACK PRO  →  TECH LEAD  →  STAFF ARCHITECT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81125" y="6543675"/>
            <a:ext cx="15525750" cy="730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BADGES</a:t>
            </a:r>
          </a:p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First Step     Bug Hunter     System Architect     Consistency King     Interview Ace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81125" y="7991475"/>
            <a:ext cx="15525750" cy="322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2400" b="1">
                <a:solidFill>
                  <a:srgbClr val="1020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GLOBAL LEADERBOARD     01 AARAV     02 PRIYA     03 YOU ↑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495300"/>
            <a:ext cx="219075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146C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13 / MODULE 12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6300" y="895350"/>
            <a:ext cx="14287500" cy="557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1">
                <a:solidFill>
                  <a:srgbClr val="1020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Performance Dashboard &amp; Analytics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6300" y="1457325"/>
            <a:ext cx="14763750" cy="28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Concept interface — measures are illustrative, not research findings.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18288000" cy="95250"/>
            <a:chOff x="0" y="0"/>
            <a:chExt cx="24384000" cy="127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27000"/>
            </a:xfrm>
            <a:custGeom>
              <a:avLst/>
              <a:gdLst/>
              <a:ahLst/>
              <a:cxnLst/>
              <a:rect l="l" t="t" r="r" b="b"/>
              <a:pathLst>
                <a:path w="24384000" h="127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146CFF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1956" y="1818974"/>
            <a:ext cx="12399090" cy="7887302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952500" y="2952750"/>
            <a:ext cx="4762500" cy="1428750"/>
            <a:chOff x="0" y="0"/>
            <a:chExt cx="6350000" cy="1905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1905000"/>
            </a:xfrm>
            <a:custGeom>
              <a:avLst/>
              <a:gdLst/>
              <a:ahLst/>
              <a:cxnLst/>
              <a:rect l="l" t="t" r="r" b="b"/>
              <a:pathLst>
                <a:path w="6350000" h="1905000">
                  <a:moveTo>
                    <a:pt x="35560" y="0"/>
                  </a:moveTo>
                  <a:lnTo>
                    <a:pt x="6314440" y="0"/>
                  </a:lnTo>
                  <a:cubicBezTo>
                    <a:pt x="6323871" y="0"/>
                    <a:pt x="6332916" y="3746"/>
                    <a:pt x="6339585" y="10415"/>
                  </a:cubicBezTo>
                  <a:cubicBezTo>
                    <a:pt x="6346253" y="17084"/>
                    <a:pt x="6350000" y="26129"/>
                    <a:pt x="6350000" y="35560"/>
                  </a:cubicBezTo>
                  <a:lnTo>
                    <a:pt x="6350000" y="1869440"/>
                  </a:lnTo>
                  <a:cubicBezTo>
                    <a:pt x="6350000" y="1878871"/>
                    <a:pt x="6346253" y="1887916"/>
                    <a:pt x="6339585" y="1894585"/>
                  </a:cubicBezTo>
                  <a:cubicBezTo>
                    <a:pt x="6332916" y="1901254"/>
                    <a:pt x="6323871" y="1905000"/>
                    <a:pt x="6314440" y="1905000"/>
                  </a:cubicBezTo>
                  <a:lnTo>
                    <a:pt x="35560" y="1905000"/>
                  </a:lnTo>
                  <a:cubicBezTo>
                    <a:pt x="15921" y="1905000"/>
                    <a:pt x="0" y="1889079"/>
                    <a:pt x="0" y="1869440"/>
                  </a:cubicBezTo>
                  <a:lnTo>
                    <a:pt x="0" y="35560"/>
                  </a:lnTo>
                  <a:cubicBezTo>
                    <a:pt x="0" y="15921"/>
                    <a:pt x="15921" y="0"/>
                    <a:pt x="3556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6350000" cy="1933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24h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PRACTISED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52500" y="4762500"/>
            <a:ext cx="4762500" cy="1428750"/>
            <a:chOff x="0" y="0"/>
            <a:chExt cx="6350000" cy="1905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1905000"/>
            </a:xfrm>
            <a:custGeom>
              <a:avLst/>
              <a:gdLst/>
              <a:ahLst/>
              <a:cxnLst/>
              <a:rect l="l" t="t" r="r" b="b"/>
              <a:pathLst>
                <a:path w="6350000" h="1905000">
                  <a:moveTo>
                    <a:pt x="35560" y="0"/>
                  </a:moveTo>
                  <a:lnTo>
                    <a:pt x="6314440" y="0"/>
                  </a:lnTo>
                  <a:cubicBezTo>
                    <a:pt x="6323871" y="0"/>
                    <a:pt x="6332916" y="3746"/>
                    <a:pt x="6339585" y="10415"/>
                  </a:cubicBezTo>
                  <a:cubicBezTo>
                    <a:pt x="6346253" y="17084"/>
                    <a:pt x="6350000" y="26129"/>
                    <a:pt x="6350000" y="35560"/>
                  </a:cubicBezTo>
                  <a:lnTo>
                    <a:pt x="6350000" y="1869440"/>
                  </a:lnTo>
                  <a:cubicBezTo>
                    <a:pt x="6350000" y="1878871"/>
                    <a:pt x="6346253" y="1887916"/>
                    <a:pt x="6339585" y="1894585"/>
                  </a:cubicBezTo>
                  <a:cubicBezTo>
                    <a:pt x="6332916" y="1901254"/>
                    <a:pt x="6323871" y="1905000"/>
                    <a:pt x="6314440" y="1905000"/>
                  </a:cubicBezTo>
                  <a:lnTo>
                    <a:pt x="35560" y="1905000"/>
                  </a:lnTo>
                  <a:cubicBezTo>
                    <a:pt x="15921" y="1905000"/>
                    <a:pt x="0" y="1889079"/>
                    <a:pt x="0" y="1869440"/>
                  </a:cubicBezTo>
                  <a:lnTo>
                    <a:pt x="0" y="35560"/>
                  </a:lnTo>
                  <a:cubicBezTo>
                    <a:pt x="0" y="15921"/>
                    <a:pt x="15921" y="0"/>
                    <a:pt x="3556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6350000" cy="1933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18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INTERVIEWS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52500" y="6572250"/>
            <a:ext cx="4762500" cy="1428750"/>
            <a:chOff x="0" y="0"/>
            <a:chExt cx="6350000" cy="1905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350000" cy="1905000"/>
            </a:xfrm>
            <a:custGeom>
              <a:avLst/>
              <a:gdLst/>
              <a:ahLst/>
              <a:cxnLst/>
              <a:rect l="l" t="t" r="r" b="b"/>
              <a:pathLst>
                <a:path w="6350000" h="1905000">
                  <a:moveTo>
                    <a:pt x="35560" y="0"/>
                  </a:moveTo>
                  <a:lnTo>
                    <a:pt x="6314440" y="0"/>
                  </a:lnTo>
                  <a:cubicBezTo>
                    <a:pt x="6323871" y="0"/>
                    <a:pt x="6332916" y="3746"/>
                    <a:pt x="6339585" y="10415"/>
                  </a:cubicBezTo>
                  <a:cubicBezTo>
                    <a:pt x="6346253" y="17084"/>
                    <a:pt x="6350000" y="26129"/>
                    <a:pt x="6350000" y="35560"/>
                  </a:cubicBezTo>
                  <a:lnTo>
                    <a:pt x="6350000" y="1869440"/>
                  </a:lnTo>
                  <a:cubicBezTo>
                    <a:pt x="6350000" y="1878871"/>
                    <a:pt x="6346253" y="1887916"/>
                    <a:pt x="6339585" y="1894585"/>
                  </a:cubicBezTo>
                  <a:cubicBezTo>
                    <a:pt x="6332916" y="1901254"/>
                    <a:pt x="6323871" y="1905000"/>
                    <a:pt x="6314440" y="1905000"/>
                  </a:cubicBezTo>
                  <a:lnTo>
                    <a:pt x="35560" y="1905000"/>
                  </a:lnTo>
                  <a:cubicBezTo>
                    <a:pt x="15921" y="1905000"/>
                    <a:pt x="0" y="1889079"/>
                    <a:pt x="0" y="1869440"/>
                  </a:cubicBezTo>
                  <a:lnTo>
                    <a:pt x="0" y="35560"/>
                  </a:lnTo>
                  <a:cubicBezTo>
                    <a:pt x="0" y="15921"/>
                    <a:pt x="15921" y="0"/>
                    <a:pt x="35560" y="0"/>
                  </a:cubicBezTo>
                  <a:close/>
                </a:path>
              </a:pathLst>
            </a:custGeom>
            <a:solidFill>
              <a:srgbClr val="146CFF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6350000" cy="1933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76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AVG SCORE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952500" y="8915876"/>
            <a:ext cx="15240000" cy="342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Skill lens: Algorithms • System Design • Communication • Problem Solving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495300"/>
            <a:ext cx="219075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146C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14 / MODULE 13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6300" y="895350"/>
            <a:ext cx="14287500" cy="557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1">
                <a:solidFill>
                  <a:srgbClr val="1020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 Profile &amp; Account Management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6300" y="1457325"/>
            <a:ext cx="14763750" cy="28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Readiness, intent and secure identity in one candidate control centre.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18288000" cy="95250"/>
            <a:chOff x="0" y="0"/>
            <a:chExt cx="24384000" cy="127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27000"/>
            </a:xfrm>
            <a:custGeom>
              <a:avLst/>
              <a:gdLst/>
              <a:ahLst/>
              <a:cxnLst/>
              <a:rect l="l" t="t" r="r" b="b"/>
              <a:pathLst>
                <a:path w="24384000" h="127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146CFF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76300" y="2619375"/>
            <a:ext cx="16430625" cy="6477000"/>
            <a:chOff x="0" y="0"/>
            <a:chExt cx="21907500" cy="863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07500" cy="8636000"/>
            </a:xfrm>
            <a:custGeom>
              <a:avLst/>
              <a:gdLst/>
              <a:ahLst/>
              <a:cxnLst/>
              <a:rect l="l" t="t" r="r" b="b"/>
              <a:pathLst>
                <a:path w="21907500" h="8636000">
                  <a:moveTo>
                    <a:pt x="10307" y="0"/>
                  </a:moveTo>
                  <a:lnTo>
                    <a:pt x="21897192" y="0"/>
                  </a:lnTo>
                  <a:cubicBezTo>
                    <a:pt x="21899927" y="0"/>
                    <a:pt x="21902548" y="1086"/>
                    <a:pt x="21904482" y="3019"/>
                  </a:cubicBezTo>
                  <a:cubicBezTo>
                    <a:pt x="21906415" y="4952"/>
                    <a:pt x="21907500" y="7574"/>
                    <a:pt x="21907500" y="10307"/>
                  </a:cubicBezTo>
                  <a:lnTo>
                    <a:pt x="21907500" y="8625693"/>
                  </a:lnTo>
                  <a:cubicBezTo>
                    <a:pt x="21907500" y="8628426"/>
                    <a:pt x="21906415" y="8631048"/>
                    <a:pt x="21904482" y="8632981"/>
                  </a:cubicBezTo>
                  <a:cubicBezTo>
                    <a:pt x="21902548" y="8634914"/>
                    <a:pt x="21899927" y="8636000"/>
                    <a:pt x="21897192" y="8636000"/>
                  </a:cubicBezTo>
                  <a:lnTo>
                    <a:pt x="10307" y="8636000"/>
                  </a:lnTo>
                  <a:cubicBezTo>
                    <a:pt x="7574" y="8636000"/>
                    <a:pt x="4952" y="8634914"/>
                    <a:pt x="3019" y="8632981"/>
                  </a:cubicBezTo>
                  <a:cubicBezTo>
                    <a:pt x="1086" y="8631048"/>
                    <a:pt x="0" y="8628426"/>
                    <a:pt x="0" y="8625693"/>
                  </a:cubicBezTo>
                  <a:lnTo>
                    <a:pt x="0" y="10307"/>
                  </a:lnTo>
                  <a:cubicBezTo>
                    <a:pt x="0" y="7574"/>
                    <a:pt x="1086" y="4952"/>
                    <a:pt x="3019" y="3019"/>
                  </a:cubicBezTo>
                  <a:cubicBezTo>
                    <a:pt x="4952" y="1086"/>
                    <a:pt x="7574" y="0"/>
                    <a:pt x="10307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849834" y="3707209"/>
            <a:ext cx="3429000" cy="3429000"/>
            <a:chOff x="0" y="0"/>
            <a:chExt cx="4572000" cy="4572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572000" cy="4572000"/>
            </a:xfrm>
            <a:custGeom>
              <a:avLst/>
              <a:gdLst/>
              <a:ahLst/>
              <a:cxnLst/>
              <a:rect l="l" t="t" r="r" b="b"/>
              <a:pathLst>
                <a:path w="4572000" h="4572000">
                  <a:moveTo>
                    <a:pt x="49389" y="0"/>
                  </a:moveTo>
                  <a:lnTo>
                    <a:pt x="4522611" y="0"/>
                  </a:lnTo>
                  <a:cubicBezTo>
                    <a:pt x="4549888" y="0"/>
                    <a:pt x="4572000" y="22112"/>
                    <a:pt x="4572000" y="49389"/>
                  </a:cubicBezTo>
                  <a:lnTo>
                    <a:pt x="4572000" y="4522611"/>
                  </a:lnTo>
                  <a:cubicBezTo>
                    <a:pt x="4572000" y="4549888"/>
                    <a:pt x="4549888" y="4572000"/>
                    <a:pt x="4522611" y="4572000"/>
                  </a:cubicBezTo>
                  <a:lnTo>
                    <a:pt x="49389" y="4572000"/>
                  </a:lnTo>
                  <a:cubicBezTo>
                    <a:pt x="22112" y="4572000"/>
                    <a:pt x="0" y="4549888"/>
                    <a:pt x="0" y="4522611"/>
                  </a:cubicBezTo>
                  <a:lnTo>
                    <a:pt x="0" y="49389"/>
                  </a:lnTo>
                  <a:cubicBezTo>
                    <a:pt x="0" y="22112"/>
                    <a:pt x="22112" y="0"/>
                    <a:pt x="49389" y="0"/>
                  </a:cubicBezTo>
                  <a:close/>
                </a:path>
              </a:pathLst>
            </a:custGeom>
            <a:solidFill>
              <a:srgbClr val="146CFF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4572000" cy="4600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PROFILE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READINESS</a:t>
              </a:r>
            </a:p>
            <a:p>
              <a:pPr algn="ctr">
                <a:lnSpc>
                  <a:spcPts val="2520"/>
                </a:lnSpc>
              </a:pPr>
              <a:endParaRPr lang="en-US" sz="18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78%</a:t>
              </a:r>
            </a:p>
            <a:p>
              <a:pPr algn="ctr">
                <a:lnSpc>
                  <a:spcPts val="2520"/>
                </a:lnSpc>
              </a:pPr>
              <a:endParaRPr lang="en-US" sz="18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9 / 12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155134" y="4030028"/>
            <a:ext cx="4857750" cy="2103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TARGET PREFERENCES</a:t>
            </a:r>
          </a:p>
          <a:p>
            <a:pPr algn="l">
              <a:lnSpc>
                <a:spcPts val="2835"/>
              </a:lnSpc>
            </a:pPr>
            <a:endParaRPr lang="en-US" sz="2100">
              <a:solidFill>
                <a:srgbClr val="5F718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Company        Microsoft</a:t>
            </a: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Role                 Backend Engineer</a:t>
            </a: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Experience     Fresher</a:t>
            </a: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Languages      Java, Python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891338" y="4030028"/>
            <a:ext cx="4095750" cy="2103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SECURE ACCOUNT</a:t>
            </a:r>
          </a:p>
          <a:p>
            <a:pPr algn="l">
              <a:lnSpc>
                <a:spcPts val="2835"/>
              </a:lnSpc>
            </a:pPr>
            <a:endParaRPr lang="en-US" sz="2100">
              <a:solidFill>
                <a:srgbClr val="5F718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✓ Login + registration</a:t>
            </a: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✓ Password hashing</a:t>
            </a: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✓ JWT authentication</a:t>
            </a: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✓ Cookie-based sessions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495300"/>
            <a:ext cx="219075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146C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15 / ARCHITECTURE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6300" y="895350"/>
            <a:ext cx="14287500" cy="557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1">
                <a:solidFill>
                  <a:srgbClr val="1020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pragmatic full-stack AI architecture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6300" y="1457325"/>
            <a:ext cx="14763750" cy="28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Clear separation of interface, orchestration, intelligence and persistence.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18288000" cy="95250"/>
            <a:chOff x="0" y="0"/>
            <a:chExt cx="24384000" cy="127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27000"/>
            </a:xfrm>
            <a:custGeom>
              <a:avLst/>
              <a:gdLst/>
              <a:ahLst/>
              <a:cxnLst/>
              <a:rect l="l" t="t" r="r" b="b"/>
              <a:pathLst>
                <a:path w="24384000" h="127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146CFF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77000" y="2571750"/>
            <a:ext cx="5334000" cy="781050"/>
            <a:chOff x="0" y="0"/>
            <a:chExt cx="7112000" cy="1041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112000" cy="1041400"/>
            </a:xfrm>
            <a:custGeom>
              <a:avLst/>
              <a:gdLst/>
              <a:ahLst/>
              <a:cxnLst/>
              <a:rect l="l" t="t" r="r" b="b"/>
              <a:pathLst>
                <a:path w="7112000" h="1041400">
                  <a:moveTo>
                    <a:pt x="31750" y="0"/>
                  </a:moveTo>
                  <a:lnTo>
                    <a:pt x="7080250" y="0"/>
                  </a:lnTo>
                  <a:cubicBezTo>
                    <a:pt x="7097785" y="0"/>
                    <a:pt x="7112000" y="14215"/>
                    <a:pt x="7112000" y="31750"/>
                  </a:cubicBezTo>
                  <a:lnTo>
                    <a:pt x="7112000" y="1009650"/>
                  </a:lnTo>
                  <a:cubicBezTo>
                    <a:pt x="7112000" y="1027185"/>
                    <a:pt x="7097785" y="1041400"/>
                    <a:pt x="7080250" y="1041400"/>
                  </a:cubicBezTo>
                  <a:lnTo>
                    <a:pt x="31750" y="1041400"/>
                  </a:lnTo>
                  <a:cubicBezTo>
                    <a:pt x="14215" y="1041400"/>
                    <a:pt x="0" y="1027185"/>
                    <a:pt x="0" y="1009650"/>
                  </a:cubicBez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  <a:close/>
                </a:path>
              </a:pathLst>
            </a:custGeom>
            <a:solidFill>
              <a:srgbClr val="22D3EE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7112000" cy="1069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USER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9144000" y="3352800"/>
            <a:ext cx="0" cy="361950"/>
          </a:xfrm>
          <a:prstGeom prst="line">
            <a:avLst/>
          </a:prstGeom>
          <a:ln w="38100" cap="rnd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6096000" y="3762375"/>
            <a:ext cx="6096000" cy="781050"/>
            <a:chOff x="0" y="0"/>
            <a:chExt cx="8128000" cy="1041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0" cy="1041400"/>
            </a:xfrm>
            <a:custGeom>
              <a:avLst/>
              <a:gdLst/>
              <a:ahLst/>
              <a:cxnLst/>
              <a:rect l="l" t="t" r="r" b="b"/>
              <a:pathLst>
                <a:path w="8128000" h="1041400">
                  <a:moveTo>
                    <a:pt x="27781" y="0"/>
                  </a:moveTo>
                  <a:lnTo>
                    <a:pt x="8100219" y="0"/>
                  </a:lnTo>
                  <a:cubicBezTo>
                    <a:pt x="8115562" y="0"/>
                    <a:pt x="8128000" y="12438"/>
                    <a:pt x="8128000" y="27781"/>
                  </a:cubicBezTo>
                  <a:lnTo>
                    <a:pt x="8128000" y="1013619"/>
                  </a:lnTo>
                  <a:cubicBezTo>
                    <a:pt x="8128000" y="1028962"/>
                    <a:pt x="8115562" y="1041400"/>
                    <a:pt x="8100219" y="1041400"/>
                  </a:cubicBezTo>
                  <a:lnTo>
                    <a:pt x="27781" y="1041400"/>
                  </a:lnTo>
                  <a:cubicBezTo>
                    <a:pt x="12438" y="1041400"/>
                    <a:pt x="0" y="1028962"/>
                    <a:pt x="0" y="1013619"/>
                  </a:cubicBezTo>
                  <a:lnTo>
                    <a:pt x="0" y="27781"/>
                  </a:lnTo>
                  <a:cubicBezTo>
                    <a:pt x="0" y="12438"/>
                    <a:pt x="12438" y="0"/>
                    <a:pt x="2778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8128000" cy="1069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FRONTEND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React.js • JavaScript • HTML5 • CSS3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9144000" y="4543425"/>
            <a:ext cx="0" cy="361950"/>
          </a:xfrm>
          <a:prstGeom prst="line">
            <a:avLst/>
          </a:prstGeom>
          <a:ln w="38100" cap="rnd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6" name="Group 16"/>
          <p:cNvGrpSpPr/>
          <p:nvPr/>
        </p:nvGrpSpPr>
        <p:grpSpPr>
          <a:xfrm>
            <a:off x="5715000" y="4953000"/>
            <a:ext cx="6858000" cy="781050"/>
            <a:chOff x="0" y="0"/>
            <a:chExt cx="9144000" cy="1041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144000" cy="1041400"/>
            </a:xfrm>
            <a:custGeom>
              <a:avLst/>
              <a:gdLst/>
              <a:ahLst/>
              <a:cxnLst/>
              <a:rect l="l" t="t" r="r" b="b"/>
              <a:pathLst>
                <a:path w="9144000" h="1041400">
                  <a:moveTo>
                    <a:pt x="24694" y="0"/>
                  </a:moveTo>
                  <a:lnTo>
                    <a:pt x="9119305" y="0"/>
                  </a:lnTo>
                  <a:cubicBezTo>
                    <a:pt x="9125855" y="0"/>
                    <a:pt x="9132136" y="2602"/>
                    <a:pt x="9136767" y="7233"/>
                  </a:cubicBezTo>
                  <a:cubicBezTo>
                    <a:pt x="9141399" y="11864"/>
                    <a:pt x="9144000" y="18145"/>
                    <a:pt x="9144000" y="24694"/>
                  </a:cubicBezTo>
                  <a:lnTo>
                    <a:pt x="9144000" y="1016706"/>
                  </a:lnTo>
                  <a:cubicBezTo>
                    <a:pt x="9144000" y="1023255"/>
                    <a:pt x="9141399" y="1029536"/>
                    <a:pt x="9136767" y="1034167"/>
                  </a:cubicBezTo>
                  <a:cubicBezTo>
                    <a:pt x="9132136" y="1038798"/>
                    <a:pt x="9125855" y="1041400"/>
                    <a:pt x="9119305" y="1041400"/>
                  </a:cubicBezTo>
                  <a:lnTo>
                    <a:pt x="24694" y="1041400"/>
                  </a:lnTo>
                  <a:cubicBezTo>
                    <a:pt x="18145" y="1041400"/>
                    <a:pt x="11864" y="1038798"/>
                    <a:pt x="7233" y="1034167"/>
                  </a:cubicBezTo>
                  <a:cubicBezTo>
                    <a:pt x="2602" y="1029536"/>
                    <a:pt x="0" y="1023255"/>
                    <a:pt x="0" y="1016706"/>
                  </a:cubicBezTo>
                  <a:lnTo>
                    <a:pt x="0" y="24694"/>
                  </a:lnTo>
                  <a:cubicBezTo>
                    <a:pt x="0" y="18145"/>
                    <a:pt x="2602" y="11864"/>
                    <a:pt x="7233" y="7233"/>
                  </a:cubicBezTo>
                  <a:cubicBezTo>
                    <a:pt x="11864" y="2602"/>
                    <a:pt x="18145" y="0"/>
                    <a:pt x="2469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9144000" cy="1069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BACKEND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Node.js • Express.js</a:t>
              </a:r>
            </a:p>
          </p:txBody>
        </p:sp>
      </p:grpSp>
      <p:sp>
        <p:nvSpPr>
          <p:cNvPr id="19" name="AutoShape 19"/>
          <p:cNvSpPr/>
          <p:nvPr/>
        </p:nvSpPr>
        <p:spPr>
          <a:xfrm>
            <a:off x="9144000" y="5734050"/>
            <a:ext cx="0" cy="361950"/>
          </a:xfrm>
          <a:prstGeom prst="line">
            <a:avLst/>
          </a:prstGeom>
          <a:ln w="38100" cap="rnd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0" name="Group 20"/>
          <p:cNvGrpSpPr/>
          <p:nvPr/>
        </p:nvGrpSpPr>
        <p:grpSpPr>
          <a:xfrm>
            <a:off x="5334000" y="6143625"/>
            <a:ext cx="7620000" cy="781050"/>
            <a:chOff x="0" y="0"/>
            <a:chExt cx="10160000" cy="1041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160000" cy="1041400"/>
            </a:xfrm>
            <a:custGeom>
              <a:avLst/>
              <a:gdLst/>
              <a:ahLst/>
              <a:cxnLst/>
              <a:rect l="l" t="t" r="r" b="b"/>
              <a:pathLst>
                <a:path w="10160000" h="1041400">
                  <a:moveTo>
                    <a:pt x="22225" y="0"/>
                  </a:moveTo>
                  <a:lnTo>
                    <a:pt x="10137775" y="0"/>
                  </a:lnTo>
                  <a:cubicBezTo>
                    <a:pt x="10150049" y="0"/>
                    <a:pt x="10160000" y="9950"/>
                    <a:pt x="10160000" y="22225"/>
                  </a:cubicBezTo>
                  <a:lnTo>
                    <a:pt x="10160000" y="1019175"/>
                  </a:lnTo>
                  <a:cubicBezTo>
                    <a:pt x="10160000" y="1031450"/>
                    <a:pt x="10150049" y="1041400"/>
                    <a:pt x="10137775" y="1041400"/>
                  </a:cubicBezTo>
                  <a:lnTo>
                    <a:pt x="22225" y="1041400"/>
                  </a:lnTo>
                  <a:cubicBezTo>
                    <a:pt x="9950" y="1041400"/>
                    <a:pt x="0" y="1031450"/>
                    <a:pt x="0" y="1019175"/>
                  </a:cubicBezTo>
                  <a:lnTo>
                    <a:pt x="0" y="22225"/>
                  </a:lnTo>
                  <a:cubicBezTo>
                    <a:pt x="0" y="9950"/>
                    <a:pt x="9950" y="0"/>
                    <a:pt x="2222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10160000" cy="1069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APPLICATION SERVICES</a:t>
              </a:r>
            </a:p>
          </p:txBody>
        </p:sp>
      </p:grpSp>
      <p:sp>
        <p:nvSpPr>
          <p:cNvPr id="23" name="AutoShape 23"/>
          <p:cNvSpPr/>
          <p:nvPr/>
        </p:nvSpPr>
        <p:spPr>
          <a:xfrm>
            <a:off x="9144000" y="6924675"/>
            <a:ext cx="0" cy="361950"/>
          </a:xfrm>
          <a:prstGeom prst="line">
            <a:avLst/>
          </a:prstGeom>
          <a:ln w="38100" cap="rnd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4" name="Group 24"/>
          <p:cNvGrpSpPr/>
          <p:nvPr/>
        </p:nvGrpSpPr>
        <p:grpSpPr>
          <a:xfrm>
            <a:off x="4953000" y="7334250"/>
            <a:ext cx="8382000" cy="781050"/>
            <a:chOff x="0" y="0"/>
            <a:chExt cx="11176000" cy="1041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176000" cy="1041400"/>
            </a:xfrm>
            <a:custGeom>
              <a:avLst/>
              <a:gdLst/>
              <a:ahLst/>
              <a:cxnLst/>
              <a:rect l="l" t="t" r="r" b="b"/>
              <a:pathLst>
                <a:path w="11176000" h="1041400">
                  <a:moveTo>
                    <a:pt x="20205" y="0"/>
                  </a:moveTo>
                  <a:lnTo>
                    <a:pt x="11155796" y="0"/>
                  </a:lnTo>
                  <a:cubicBezTo>
                    <a:pt x="11161154" y="0"/>
                    <a:pt x="11166293" y="2129"/>
                    <a:pt x="11170083" y="5918"/>
                  </a:cubicBezTo>
                  <a:cubicBezTo>
                    <a:pt x="11173871" y="9707"/>
                    <a:pt x="11176000" y="14846"/>
                    <a:pt x="11176000" y="20205"/>
                  </a:cubicBezTo>
                  <a:lnTo>
                    <a:pt x="11176000" y="1021195"/>
                  </a:lnTo>
                  <a:cubicBezTo>
                    <a:pt x="11176000" y="1026554"/>
                    <a:pt x="11173871" y="1031693"/>
                    <a:pt x="11170083" y="1035482"/>
                  </a:cubicBezTo>
                  <a:cubicBezTo>
                    <a:pt x="11166293" y="1039271"/>
                    <a:pt x="11161154" y="1041400"/>
                    <a:pt x="11155796" y="1041400"/>
                  </a:cubicBezTo>
                  <a:lnTo>
                    <a:pt x="20205" y="1041400"/>
                  </a:lnTo>
                  <a:cubicBezTo>
                    <a:pt x="14846" y="1041400"/>
                    <a:pt x="9707" y="1039271"/>
                    <a:pt x="5918" y="1035482"/>
                  </a:cubicBezTo>
                  <a:cubicBezTo>
                    <a:pt x="2129" y="1031693"/>
                    <a:pt x="0" y="1026554"/>
                    <a:pt x="0" y="1021195"/>
                  </a:cubicBezTo>
                  <a:lnTo>
                    <a:pt x="0" y="20205"/>
                  </a:lnTo>
                  <a:cubicBezTo>
                    <a:pt x="0" y="14846"/>
                    <a:pt x="2129" y="9707"/>
                    <a:pt x="5918" y="5918"/>
                  </a:cubicBezTo>
                  <a:cubicBezTo>
                    <a:pt x="9707" y="2129"/>
                    <a:pt x="14846" y="0"/>
                    <a:pt x="20205" y="0"/>
                  </a:cubicBezTo>
                  <a:close/>
                </a:path>
              </a:pathLst>
            </a:custGeom>
            <a:solidFill>
              <a:srgbClr val="146CFF"/>
            </a:solidFill>
            <a:ln cap="sq">
              <a:noFill/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28575"/>
              <a:ext cx="11176000" cy="1069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AI SERVICE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Google Gemini API</a:t>
              </a:r>
            </a:p>
          </p:txBody>
        </p:sp>
      </p:grpSp>
      <p:sp>
        <p:nvSpPr>
          <p:cNvPr id="27" name="AutoShape 27"/>
          <p:cNvSpPr/>
          <p:nvPr/>
        </p:nvSpPr>
        <p:spPr>
          <a:xfrm>
            <a:off x="9144000" y="8115300"/>
            <a:ext cx="0" cy="361950"/>
          </a:xfrm>
          <a:prstGeom prst="line">
            <a:avLst/>
          </a:prstGeom>
          <a:ln w="38100" cap="rnd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8" name="Group 28"/>
          <p:cNvGrpSpPr/>
          <p:nvPr/>
        </p:nvGrpSpPr>
        <p:grpSpPr>
          <a:xfrm>
            <a:off x="4572000" y="8524875"/>
            <a:ext cx="9144000" cy="781050"/>
            <a:chOff x="0" y="0"/>
            <a:chExt cx="12192000" cy="10414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192000" cy="1041400"/>
            </a:xfrm>
            <a:custGeom>
              <a:avLst/>
              <a:gdLst/>
              <a:ahLst/>
              <a:cxnLst/>
              <a:rect l="l" t="t" r="r" b="b"/>
              <a:pathLst>
                <a:path w="12192000" h="1041400">
                  <a:moveTo>
                    <a:pt x="18521" y="0"/>
                  </a:moveTo>
                  <a:lnTo>
                    <a:pt x="12173479" y="0"/>
                  </a:lnTo>
                  <a:cubicBezTo>
                    <a:pt x="12178392" y="0"/>
                    <a:pt x="12183102" y="1951"/>
                    <a:pt x="12186576" y="5425"/>
                  </a:cubicBezTo>
                  <a:cubicBezTo>
                    <a:pt x="12190049" y="8898"/>
                    <a:pt x="12192000" y="13609"/>
                    <a:pt x="12192000" y="18521"/>
                  </a:cubicBezTo>
                  <a:lnTo>
                    <a:pt x="12192000" y="1022879"/>
                  </a:lnTo>
                  <a:cubicBezTo>
                    <a:pt x="12192000" y="1027791"/>
                    <a:pt x="12190049" y="1032502"/>
                    <a:pt x="12186576" y="1035975"/>
                  </a:cubicBezTo>
                  <a:cubicBezTo>
                    <a:pt x="12183102" y="1039449"/>
                    <a:pt x="12178392" y="1041400"/>
                    <a:pt x="12173479" y="1041400"/>
                  </a:cubicBezTo>
                  <a:lnTo>
                    <a:pt x="18521" y="1041400"/>
                  </a:lnTo>
                  <a:cubicBezTo>
                    <a:pt x="13609" y="1041400"/>
                    <a:pt x="8898" y="1039449"/>
                    <a:pt x="5425" y="1035975"/>
                  </a:cubicBezTo>
                  <a:cubicBezTo>
                    <a:pt x="1951" y="1032502"/>
                    <a:pt x="0" y="1027791"/>
                    <a:pt x="0" y="1022879"/>
                  </a:cubicBezTo>
                  <a:lnTo>
                    <a:pt x="0" y="18521"/>
                  </a:lnTo>
                  <a:cubicBezTo>
                    <a:pt x="0" y="13609"/>
                    <a:pt x="1951" y="8898"/>
                    <a:pt x="5425" y="5425"/>
                  </a:cubicBezTo>
                  <a:cubicBezTo>
                    <a:pt x="8898" y="1951"/>
                    <a:pt x="13609" y="0"/>
                    <a:pt x="1852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28575"/>
              <a:ext cx="12192000" cy="1069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DATABASE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1020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MongoDB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4762500" y="9496425"/>
            <a:ext cx="87630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 spc="144">
                <a:solidFill>
                  <a:srgbClr val="146C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JWT authentication   •   Git   •   GitHub   •   VS Code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495300"/>
            <a:ext cx="219075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146C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16 / SYNTHESIS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6300" y="895350"/>
            <a:ext cx="14287500" cy="557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1">
                <a:solidFill>
                  <a:srgbClr val="1020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Innovation now. Expansion next.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6300" y="1457325"/>
            <a:ext cx="14763750" cy="28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An integrated environment designed around continuous improvement, not isolated utilities.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18288000" cy="95250"/>
            <a:chOff x="0" y="0"/>
            <a:chExt cx="24384000" cy="127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27000"/>
            </a:xfrm>
            <a:custGeom>
              <a:avLst/>
              <a:gdLst/>
              <a:ahLst/>
              <a:cxnLst/>
              <a:rect l="l" t="t" r="r" b="b"/>
              <a:pathLst>
                <a:path w="24384000" h="127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146CFF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04875" y="2857500"/>
            <a:ext cx="5143500" cy="5905500"/>
            <a:chOff x="0" y="0"/>
            <a:chExt cx="6858000" cy="7874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858000" cy="7874000"/>
            </a:xfrm>
            <a:custGeom>
              <a:avLst/>
              <a:gdLst/>
              <a:ahLst/>
              <a:cxnLst/>
              <a:rect l="l" t="t" r="r" b="b"/>
              <a:pathLst>
                <a:path w="6858000" h="7874000">
                  <a:moveTo>
                    <a:pt x="32926" y="0"/>
                  </a:moveTo>
                  <a:lnTo>
                    <a:pt x="6825074" y="0"/>
                  </a:lnTo>
                  <a:cubicBezTo>
                    <a:pt x="6833807" y="0"/>
                    <a:pt x="6842182" y="3469"/>
                    <a:pt x="6848356" y="9644"/>
                  </a:cubicBezTo>
                  <a:cubicBezTo>
                    <a:pt x="6854531" y="15819"/>
                    <a:pt x="6858000" y="24193"/>
                    <a:pt x="6858000" y="32926"/>
                  </a:cubicBezTo>
                  <a:lnTo>
                    <a:pt x="6858000" y="7841074"/>
                  </a:lnTo>
                  <a:cubicBezTo>
                    <a:pt x="6858000" y="7849807"/>
                    <a:pt x="6854531" y="7858182"/>
                    <a:pt x="6848356" y="7864356"/>
                  </a:cubicBezTo>
                  <a:cubicBezTo>
                    <a:pt x="6842182" y="7870531"/>
                    <a:pt x="6833807" y="7874000"/>
                    <a:pt x="6825074" y="7874000"/>
                  </a:cubicBezTo>
                  <a:lnTo>
                    <a:pt x="32926" y="7874000"/>
                  </a:lnTo>
                  <a:cubicBezTo>
                    <a:pt x="24193" y="7874000"/>
                    <a:pt x="15819" y="7870531"/>
                    <a:pt x="9644" y="7864356"/>
                  </a:cubicBezTo>
                  <a:cubicBezTo>
                    <a:pt x="3469" y="7858182"/>
                    <a:pt x="0" y="7849807"/>
                    <a:pt x="0" y="7841074"/>
                  </a:cubicBezTo>
                  <a:lnTo>
                    <a:pt x="0" y="32926"/>
                  </a:lnTo>
                  <a:cubicBezTo>
                    <a:pt x="0" y="24193"/>
                    <a:pt x="3469" y="15819"/>
                    <a:pt x="9644" y="9644"/>
                  </a:cubicBezTo>
                  <a:cubicBezTo>
                    <a:pt x="15819" y="3469"/>
                    <a:pt x="24193" y="0"/>
                    <a:pt x="3292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333500" y="3343275"/>
            <a:ext cx="4286250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 spc="168">
                <a:solidFill>
                  <a:srgbClr val="146C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INNOVATION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33500" y="4099560"/>
            <a:ext cx="4286250" cy="421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835"/>
              </a:lnSpc>
              <a:buFont typeface="Arial"/>
              <a:buChar char="•"/>
            </a:pPr>
            <a:r>
              <a:rPr lang="en-US" sz="210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AI interviews </a:t>
            </a:r>
          </a:p>
          <a:p>
            <a:pPr marL="453390" lvl="1" indent="-226695" algn="l">
              <a:lnSpc>
                <a:spcPts val="2835"/>
              </a:lnSpc>
              <a:buFont typeface="Arial"/>
              <a:buChar char="•"/>
            </a:pPr>
            <a:r>
              <a:rPr lang="en-US" sz="210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coding </a:t>
            </a:r>
          </a:p>
          <a:p>
            <a:pPr marL="453390" lvl="1" indent="-226695" algn="l">
              <a:lnSpc>
                <a:spcPts val="2835"/>
              </a:lnSpc>
              <a:buFont typeface="Arial"/>
              <a:buChar char="•"/>
            </a:pPr>
            <a:r>
              <a:rPr lang="en-US" sz="210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system design </a:t>
            </a:r>
          </a:p>
          <a:p>
            <a:pPr marL="453390" lvl="1" indent="-226695" algn="l">
              <a:lnSpc>
                <a:spcPts val="2835"/>
              </a:lnSpc>
              <a:buFont typeface="Arial"/>
              <a:buChar char="•"/>
            </a:pPr>
            <a:r>
              <a:rPr lang="en-US" sz="210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voice/video </a:t>
            </a:r>
          </a:p>
          <a:p>
            <a:pPr marL="453390" lvl="1" indent="-226695" algn="l">
              <a:lnSpc>
                <a:spcPts val="2835"/>
              </a:lnSpc>
              <a:buFont typeface="Arial"/>
              <a:buChar char="•"/>
            </a:pPr>
            <a:r>
              <a:rPr lang="en-US" sz="210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resume/ATS </a:t>
            </a:r>
          </a:p>
          <a:p>
            <a:pPr marL="453390" lvl="1" indent="-226695" algn="l">
              <a:lnSpc>
                <a:spcPts val="2835"/>
              </a:lnSpc>
              <a:buFont typeface="Arial"/>
              <a:buChar char="•"/>
            </a:pPr>
            <a:r>
              <a:rPr lang="en-US" sz="210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cover letters </a:t>
            </a:r>
          </a:p>
          <a:p>
            <a:pPr marL="453390" lvl="1" indent="-226695" algn="l">
              <a:lnSpc>
                <a:spcPts val="2835"/>
              </a:lnSpc>
              <a:buFont typeface="Arial"/>
              <a:buChar char="•"/>
            </a:pPr>
            <a:r>
              <a:rPr lang="en-US" sz="210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coaching </a:t>
            </a:r>
          </a:p>
          <a:p>
            <a:pPr marL="453390" lvl="1" indent="-226695" algn="l">
              <a:lnSpc>
                <a:spcPts val="2835"/>
              </a:lnSpc>
              <a:buFont typeface="Arial"/>
              <a:buChar char="•"/>
            </a:pPr>
            <a:r>
              <a:rPr lang="en-US" sz="210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learning </a:t>
            </a:r>
          </a:p>
          <a:p>
            <a:pPr marL="453390" lvl="1" indent="-226695" algn="l">
              <a:lnSpc>
                <a:spcPts val="2835"/>
              </a:lnSpc>
              <a:buFont typeface="Arial"/>
              <a:buChar char="•"/>
            </a:pPr>
            <a:r>
              <a:rPr lang="en-US" sz="210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practice </a:t>
            </a:r>
          </a:p>
          <a:p>
            <a:pPr marL="453390" lvl="1" indent="-226695" algn="l">
              <a:lnSpc>
                <a:spcPts val="2835"/>
              </a:lnSpc>
              <a:buFont typeface="Arial"/>
              <a:buChar char="•"/>
            </a:pPr>
            <a:r>
              <a:rPr lang="en-US" sz="210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scheduling </a:t>
            </a:r>
          </a:p>
          <a:p>
            <a:pPr marL="453390" lvl="1" indent="-226695" algn="l">
              <a:lnSpc>
                <a:spcPts val="2835"/>
              </a:lnSpc>
              <a:buFont typeface="Arial"/>
              <a:buChar char="•"/>
            </a:pPr>
            <a:r>
              <a:rPr lang="en-US" sz="210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gamification </a:t>
            </a:r>
          </a:p>
          <a:p>
            <a:pPr marL="453390" lvl="1" indent="-226695" algn="l">
              <a:lnSpc>
                <a:spcPts val="2835"/>
              </a:lnSpc>
              <a:buFont typeface="Arial"/>
              <a:buChar char="•"/>
            </a:pPr>
            <a:r>
              <a:rPr lang="en-US" sz="210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analytics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715125" y="2857500"/>
            <a:ext cx="5143500" cy="5905500"/>
            <a:chOff x="0" y="0"/>
            <a:chExt cx="6858000" cy="7874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858000" cy="7874000"/>
            </a:xfrm>
            <a:custGeom>
              <a:avLst/>
              <a:gdLst/>
              <a:ahLst/>
              <a:cxnLst/>
              <a:rect l="l" t="t" r="r" b="b"/>
              <a:pathLst>
                <a:path w="6858000" h="7874000">
                  <a:moveTo>
                    <a:pt x="32926" y="0"/>
                  </a:moveTo>
                  <a:lnTo>
                    <a:pt x="6825074" y="0"/>
                  </a:lnTo>
                  <a:cubicBezTo>
                    <a:pt x="6833807" y="0"/>
                    <a:pt x="6842182" y="3469"/>
                    <a:pt x="6848356" y="9644"/>
                  </a:cubicBezTo>
                  <a:cubicBezTo>
                    <a:pt x="6854531" y="15819"/>
                    <a:pt x="6858000" y="24193"/>
                    <a:pt x="6858000" y="32926"/>
                  </a:cubicBezTo>
                  <a:lnTo>
                    <a:pt x="6858000" y="7841074"/>
                  </a:lnTo>
                  <a:cubicBezTo>
                    <a:pt x="6858000" y="7849807"/>
                    <a:pt x="6854531" y="7858182"/>
                    <a:pt x="6848356" y="7864356"/>
                  </a:cubicBezTo>
                  <a:cubicBezTo>
                    <a:pt x="6842182" y="7870531"/>
                    <a:pt x="6833807" y="7874000"/>
                    <a:pt x="6825074" y="7874000"/>
                  </a:cubicBezTo>
                  <a:lnTo>
                    <a:pt x="32926" y="7874000"/>
                  </a:lnTo>
                  <a:cubicBezTo>
                    <a:pt x="24193" y="7874000"/>
                    <a:pt x="15819" y="7870531"/>
                    <a:pt x="9644" y="7864356"/>
                  </a:cubicBezTo>
                  <a:cubicBezTo>
                    <a:pt x="3469" y="7858182"/>
                    <a:pt x="0" y="7849807"/>
                    <a:pt x="0" y="7841074"/>
                  </a:cubicBezTo>
                  <a:lnTo>
                    <a:pt x="0" y="32926"/>
                  </a:lnTo>
                  <a:cubicBezTo>
                    <a:pt x="0" y="24193"/>
                    <a:pt x="3469" y="15819"/>
                    <a:pt x="9644" y="9644"/>
                  </a:cubicBezTo>
                  <a:cubicBezTo>
                    <a:pt x="15819" y="3469"/>
                    <a:pt x="24193" y="0"/>
                    <a:pt x="3292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7143750" y="3343275"/>
            <a:ext cx="4286250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 spc="168">
                <a:solidFill>
                  <a:srgbClr val="22D3E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FUTURE SCOPE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143750" y="4099560"/>
            <a:ext cx="4286250" cy="2103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Advanced acoustic analysis</a:t>
            </a: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Deeper computer vision</a:t>
            </a: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More compilers</a:t>
            </a: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Role-specific intelligence</a:t>
            </a: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Multilingual support</a:t>
            </a: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5F718F"/>
                </a:solidFill>
                <a:latin typeface="Open Sans"/>
                <a:ea typeface="Open Sans"/>
                <a:cs typeface="Open Sans"/>
                <a:sym typeface="Open Sans"/>
              </a:rPr>
              <a:t>Placement portal integration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525375" y="2857500"/>
            <a:ext cx="5143500" cy="5905500"/>
            <a:chOff x="0" y="0"/>
            <a:chExt cx="6858000" cy="7874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858000" cy="7874000"/>
            </a:xfrm>
            <a:custGeom>
              <a:avLst/>
              <a:gdLst/>
              <a:ahLst/>
              <a:cxnLst/>
              <a:rect l="l" t="t" r="r" b="b"/>
              <a:pathLst>
                <a:path w="6858000" h="7874000">
                  <a:moveTo>
                    <a:pt x="32926" y="0"/>
                  </a:moveTo>
                  <a:lnTo>
                    <a:pt x="6825074" y="0"/>
                  </a:lnTo>
                  <a:cubicBezTo>
                    <a:pt x="6833807" y="0"/>
                    <a:pt x="6842182" y="3469"/>
                    <a:pt x="6848356" y="9644"/>
                  </a:cubicBezTo>
                  <a:cubicBezTo>
                    <a:pt x="6854531" y="15819"/>
                    <a:pt x="6858000" y="24193"/>
                    <a:pt x="6858000" y="32926"/>
                  </a:cubicBezTo>
                  <a:lnTo>
                    <a:pt x="6858000" y="7841074"/>
                  </a:lnTo>
                  <a:cubicBezTo>
                    <a:pt x="6858000" y="7849807"/>
                    <a:pt x="6854531" y="7858182"/>
                    <a:pt x="6848356" y="7864356"/>
                  </a:cubicBezTo>
                  <a:cubicBezTo>
                    <a:pt x="6842182" y="7870531"/>
                    <a:pt x="6833807" y="7874000"/>
                    <a:pt x="6825074" y="7874000"/>
                  </a:cubicBezTo>
                  <a:lnTo>
                    <a:pt x="32926" y="7874000"/>
                  </a:lnTo>
                  <a:cubicBezTo>
                    <a:pt x="24193" y="7874000"/>
                    <a:pt x="15819" y="7870531"/>
                    <a:pt x="9644" y="7864356"/>
                  </a:cubicBezTo>
                  <a:cubicBezTo>
                    <a:pt x="3469" y="7858182"/>
                    <a:pt x="0" y="7849807"/>
                    <a:pt x="0" y="7841074"/>
                  </a:cubicBezTo>
                  <a:lnTo>
                    <a:pt x="0" y="32926"/>
                  </a:lnTo>
                  <a:cubicBezTo>
                    <a:pt x="0" y="24193"/>
                    <a:pt x="3469" y="15819"/>
                    <a:pt x="9644" y="9644"/>
                  </a:cubicBezTo>
                  <a:cubicBezTo>
                    <a:pt x="15819" y="3469"/>
                    <a:pt x="24193" y="0"/>
                    <a:pt x="32926" y="0"/>
                  </a:cubicBezTo>
                  <a:close/>
                </a:path>
              </a:pathLst>
            </a:custGeom>
            <a:solidFill>
              <a:srgbClr val="07152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12954000" y="3343275"/>
            <a:ext cx="4286250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 spc="16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954000" y="4099560"/>
            <a:ext cx="4286250" cy="2103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InterviewAce AI combines preparation, technical practice, resume optimisation, career guidance and measurable continuous improvement in one AI-powered environment.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4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0" y="0"/>
            <a:ext cx="266700" cy="10287000"/>
            <a:chOff x="0" y="0"/>
            <a:chExt cx="3556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5600" cy="13716000"/>
            </a:xfrm>
            <a:custGeom>
              <a:avLst/>
              <a:gdLst/>
              <a:ahLst/>
              <a:cxnLst/>
              <a:rect l="l" t="t" r="r" b="b"/>
              <a:pathLst>
                <a:path w="355600" h="13716000">
                  <a:moveTo>
                    <a:pt x="177800" y="0"/>
                  </a:moveTo>
                  <a:lnTo>
                    <a:pt x="177800" y="0"/>
                  </a:lnTo>
                  <a:cubicBezTo>
                    <a:pt x="275996" y="0"/>
                    <a:pt x="355600" y="79604"/>
                    <a:pt x="355600" y="177800"/>
                  </a:cubicBezTo>
                  <a:lnTo>
                    <a:pt x="355600" y="13538200"/>
                  </a:lnTo>
                  <a:cubicBezTo>
                    <a:pt x="355600" y="13636396"/>
                    <a:pt x="275996" y="13716000"/>
                    <a:pt x="177800" y="13716000"/>
                  </a:cubicBezTo>
                  <a:lnTo>
                    <a:pt x="177800" y="13716000"/>
                  </a:lnTo>
                  <a:cubicBezTo>
                    <a:pt x="79604" y="13716000"/>
                    <a:pt x="0" y="13636396"/>
                    <a:pt x="0" y="13538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22D3EE"/>
            </a:solidFill>
            <a:ln cap="sq">
              <a:noFill/>
              <a:prstDash val="solid"/>
              <a:miter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1143000" y="1114425"/>
            <a:ext cx="66675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144">
                <a:solidFill>
                  <a:srgbClr val="22D3E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INTERVIEWACE AI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3248025"/>
            <a:ext cx="14287500" cy="1557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12"/>
              </a:lnSpc>
            </a:pPr>
            <a:r>
              <a:rPr lang="en-US" sz="112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3000" y="8715375"/>
            <a:ext cx="8572500" cy="34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 spc="156">
                <a:solidFill>
                  <a:srgbClr val="22D3E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PRACTICE. ANALYZE. IMPROVE.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1151</Words>
  <Application>Microsoft Office PowerPoint</Application>
  <PresentationFormat>Custom</PresentationFormat>
  <Paragraphs>295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Open Sans Bold</vt:lpstr>
      <vt:lpstr>Calibri</vt:lpstr>
      <vt:lpstr>Montserrat Bold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paragraph text</dc:title>
  <dc:creator>Abhijeet Vinay Jha</dc:creator>
  <cp:lastModifiedBy>Abhijeet Vinay Jha</cp:lastModifiedBy>
  <cp:revision>2</cp:revision>
  <dcterms:created xsi:type="dcterms:W3CDTF">2006-08-16T00:00:00Z</dcterms:created>
  <dcterms:modified xsi:type="dcterms:W3CDTF">2026-09-15T17:34:50Z</dcterms:modified>
  <dc:identifier>DAHVR6msVh4</dc:identifier>
</cp:coreProperties>
</file>